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  <p:sldId id="269" r:id="rId14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758" y="3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1828800" y="-1828800"/>
            <a:ext cx="6400800" cy="6400800"/>
          </a:xfrm>
          <a:prstGeom prst="ellipse">
            <a:avLst/>
          </a:prstGeom>
          <a:solidFill>
            <a:srgbClr val="008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686800" y="4114800"/>
            <a:ext cx="4572000" cy="4572000"/>
          </a:xfrm>
          <a:prstGeom prst="ellipse">
            <a:avLst/>
          </a:prstGeom>
          <a:solidFill>
            <a:srgbClr val="B04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22960" y="731520"/>
            <a:ext cx="5943600" cy="5394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337560" y="1097280"/>
            <a:ext cx="914400" cy="914400"/>
          </a:xfrm>
          <a:prstGeom prst="roundRect">
            <a:avLst>
              <a:gd name="adj" fmla="val 15000"/>
            </a:avLst>
          </a:prstGeom>
          <a:solidFill>
            <a:srgbClr val="1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337560" y="114300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009688"/>
                </a:solidFill>
                <a:latin typeface="Segoe UI"/>
              </a:rPr>
              <a:t>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94560"/>
            <a:ext cx="5943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1C2340"/>
                </a:solidFill>
                <a:latin typeface="Segoe UI"/>
              </a:rPr>
              <a:t>Santé Aproximite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01752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 dirty="0">
                <a:solidFill>
                  <a:srgbClr val="8E99B0"/>
                </a:solidFill>
                <a:latin typeface="Segoe UI"/>
              </a:rPr>
              <a:t>La </a:t>
            </a:r>
            <a:r>
              <a:rPr sz="1600" b="0" i="1" dirty="0" err="1">
                <a:solidFill>
                  <a:srgbClr val="8E99B0"/>
                </a:solidFill>
                <a:latin typeface="Segoe UI"/>
              </a:rPr>
              <a:t>santé</a:t>
            </a:r>
            <a:r>
              <a:rPr sz="1600" b="0" i="1" dirty="0">
                <a:solidFill>
                  <a:srgbClr val="8E99B0"/>
                </a:solidFill>
                <a:latin typeface="Segoe UI"/>
              </a:rPr>
              <a:t> de </a:t>
            </a:r>
            <a:r>
              <a:rPr sz="1600" b="0" i="1" dirty="0" err="1">
                <a:solidFill>
                  <a:srgbClr val="8E99B0"/>
                </a:solidFill>
                <a:latin typeface="Segoe UI"/>
              </a:rPr>
              <a:t>proximité</a:t>
            </a:r>
            <a:r>
              <a:rPr sz="1600" b="0" i="1" dirty="0">
                <a:solidFill>
                  <a:srgbClr val="8E99B0"/>
                </a:solidFill>
                <a:latin typeface="Segoe UI"/>
              </a:rPr>
              <a:t> dans </a:t>
            </a:r>
            <a:r>
              <a:rPr sz="1600" b="0" i="1" dirty="0" err="1">
                <a:solidFill>
                  <a:srgbClr val="8E99B0"/>
                </a:solidFill>
                <a:latin typeface="Segoe UI"/>
              </a:rPr>
              <a:t>votre</a:t>
            </a:r>
            <a:r>
              <a:rPr sz="1600" b="0" i="1" dirty="0">
                <a:solidFill>
                  <a:srgbClr val="8E99B0"/>
                </a:solidFill>
                <a:latin typeface="Segoe UI"/>
              </a:rPr>
              <a:t> poche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80160" y="3657600"/>
            <a:ext cx="1554480" cy="347472"/>
          </a:xfrm>
          <a:prstGeom prst="roundRect">
            <a:avLst>
              <a:gd name="adj" fmla="val 50000"/>
            </a:avLst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3657600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🏥 Urgence 24/7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71800" y="3657600"/>
            <a:ext cx="1554480" cy="347472"/>
          </a:xfrm>
          <a:prstGeom prst="roundRect">
            <a:avLst>
              <a:gd name="adj" fmla="val 50000"/>
            </a:avLst>
          </a:prstGeom>
          <a:solidFill>
            <a:srgbClr val="E862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971800" y="3657600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📍 Géolocalisation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63440" y="3657600"/>
            <a:ext cx="1554480" cy="347472"/>
          </a:xfrm>
          <a:prstGeom prst="roundRect">
            <a:avLst>
              <a:gd name="adj" fmla="val 50000"/>
            </a:avLst>
          </a:prstGeom>
          <a:solidFill>
            <a:srgbClr val="7B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663440" y="3657600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🛡️ Sécurité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39496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E99B0"/>
                </a:solidFill>
                <a:latin typeface="Segoe UI"/>
              </a:rPr>
              <a:t>Par YEFA TECHNOLOGIE  ·  yefa.technologie@gmail.com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51988" y="1033272"/>
            <a:ext cx="2278966" cy="4937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278836" y="960120"/>
            <a:ext cx="2278966" cy="4937760"/>
          </a:xfrm>
          <a:prstGeom prst="roundRect">
            <a:avLst>
              <a:gd name="adj" fmla="val 8000"/>
            </a:avLst>
          </a:prstGeom>
          <a:solidFill>
            <a:srgbClr val="22222A"/>
          </a:solidFill>
          <a:ln w="2540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08-chef-login-res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5574" y="1305763"/>
            <a:ext cx="2005490" cy="4246473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9076475" y="5733288"/>
            <a:ext cx="683689" cy="45720"/>
          </a:xfrm>
          <a:prstGeom prst="rect">
            <a:avLst/>
          </a:prstGeom>
          <a:solidFill>
            <a:srgbClr val="888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686800" y="1828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9AABB"/>
                </a:solidFill>
                <a:latin typeface="Segoe UI"/>
              </a:rPr>
              <a:t>PITCH DECK  ·  2025</a:t>
            </a:r>
          </a:p>
        </p:txBody>
      </p:sp>
      <p:sp>
        <p:nvSpPr>
          <p:cNvPr id="22" name="TextBox 5">
            <a:extLst>
              <a:ext uri="{FF2B5EF4-FFF2-40B4-BE49-F238E27FC236}">
                <a16:creationId xmlns:a16="http://schemas.microsoft.com/office/drawing/2014/main" id="{97F1D53B-6363-45AC-BA0D-2B5F879218C8}"/>
              </a:ext>
            </a:extLst>
          </p:cNvPr>
          <p:cNvSpPr txBox="1"/>
          <p:nvPr/>
        </p:nvSpPr>
        <p:spPr>
          <a:xfrm>
            <a:off x="1500319" y="4114800"/>
            <a:ext cx="438912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dirty="0">
                <a:solidFill>
                  <a:schemeClr val="accent1">
                    <a:lumMod val="75000"/>
                  </a:schemeClr>
                </a:solidFill>
              </a:rPr>
              <a:t>Une application mobile </a:t>
            </a:r>
            <a:r>
              <a:rPr sz="1600" b="0" dirty="0" err="1">
                <a:solidFill>
                  <a:schemeClr val="accent1">
                    <a:lumMod val="75000"/>
                  </a:schemeClr>
                </a:solidFill>
              </a:rPr>
              <a:t>concue</a:t>
            </a:r>
            <a:r>
              <a:rPr sz="1600" b="0" dirty="0">
                <a:solidFill>
                  <a:schemeClr val="accent1">
                    <a:lumMod val="75000"/>
                  </a:schemeClr>
                </a:solidFill>
              </a:rPr>
              <a:t> pour </a:t>
            </a:r>
            <a:r>
              <a:rPr sz="1600" b="0" dirty="0" err="1">
                <a:solidFill>
                  <a:schemeClr val="accent1">
                    <a:lumMod val="75000"/>
                  </a:schemeClr>
                </a:solidFill>
              </a:rPr>
              <a:t>rapprocher</a:t>
            </a:r>
            <a:r>
              <a:rPr sz="1600" b="0" dirty="0">
                <a:solidFill>
                  <a:schemeClr val="accent1">
                    <a:lumMod val="75000"/>
                  </a:schemeClr>
                </a:solidFill>
              </a:rPr>
              <a:t> les </a:t>
            </a:r>
            <a:r>
              <a:rPr sz="1600" b="0" dirty="0" err="1">
                <a:solidFill>
                  <a:schemeClr val="accent1">
                    <a:lumMod val="75000"/>
                  </a:schemeClr>
                </a:solidFill>
              </a:rPr>
              <a:t>citoyens</a:t>
            </a:r>
            <a:r>
              <a:rPr sz="1600" b="0" dirty="0">
                <a:solidFill>
                  <a:schemeClr val="accent1">
                    <a:lumMod val="75000"/>
                  </a:schemeClr>
                </a:solidFill>
              </a:rPr>
              <a:t> des services de </a:t>
            </a:r>
            <a:r>
              <a:rPr sz="1600" b="0" dirty="0" err="1">
                <a:solidFill>
                  <a:schemeClr val="accent1">
                    <a:lumMod val="75000"/>
                  </a:schemeClr>
                </a:solidFill>
              </a:rPr>
              <a:t>sante</a:t>
            </a:r>
            <a:r>
              <a:rPr sz="1600" b="0" dirty="0">
                <a:solidFill>
                  <a:schemeClr val="accent1">
                    <a:lumMod val="75000"/>
                  </a:schemeClr>
                </a:solidFill>
              </a:rPr>
              <a:t>, </a:t>
            </a:r>
            <a:r>
              <a:rPr sz="1600" b="0" dirty="0" err="1">
                <a:solidFill>
                  <a:schemeClr val="accent1">
                    <a:lumMod val="75000"/>
                  </a:schemeClr>
                </a:solidFill>
              </a:rPr>
              <a:t>accelerer</a:t>
            </a:r>
            <a:r>
              <a:rPr sz="1600" b="0" dirty="0">
                <a:solidFill>
                  <a:schemeClr val="accent1">
                    <a:lumMod val="75000"/>
                  </a:schemeClr>
                </a:solidFill>
              </a:rPr>
              <a:t> les </a:t>
            </a:r>
            <a:r>
              <a:rPr sz="1600" b="0" dirty="0" err="1">
                <a:solidFill>
                  <a:schemeClr val="accent1">
                    <a:lumMod val="75000"/>
                  </a:schemeClr>
                </a:solidFill>
              </a:rPr>
              <a:t>signalements</a:t>
            </a:r>
            <a:r>
              <a:rPr sz="1600" b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sz="1600" b="0" dirty="0" err="1">
                <a:solidFill>
                  <a:schemeClr val="accent1">
                    <a:lumMod val="75000"/>
                  </a:schemeClr>
                </a:solidFill>
              </a:rPr>
              <a:t>d'urgence</a:t>
            </a:r>
            <a:r>
              <a:rPr sz="1600" b="0" dirty="0">
                <a:solidFill>
                  <a:schemeClr val="accent1">
                    <a:lumMod val="75000"/>
                  </a:schemeClr>
                </a:solidFill>
              </a:rPr>
              <a:t> et </a:t>
            </a:r>
            <a:r>
              <a:rPr sz="1600" b="0" dirty="0" err="1">
                <a:solidFill>
                  <a:schemeClr val="accent1">
                    <a:lumMod val="75000"/>
                  </a:schemeClr>
                </a:solidFill>
              </a:rPr>
              <a:t>renforcer</a:t>
            </a:r>
            <a:r>
              <a:rPr sz="1600" b="0" dirty="0">
                <a:solidFill>
                  <a:schemeClr val="accent1">
                    <a:lumMod val="75000"/>
                  </a:schemeClr>
                </a:solidFill>
              </a:rPr>
              <a:t> la </a:t>
            </a:r>
            <a:r>
              <a:rPr sz="1600" b="0" dirty="0" err="1">
                <a:solidFill>
                  <a:schemeClr val="accent1">
                    <a:lumMod val="75000"/>
                  </a:schemeClr>
                </a:solidFill>
              </a:rPr>
              <a:t>confiance</a:t>
            </a:r>
            <a:r>
              <a:rPr sz="1600" b="0" dirty="0">
                <a:solidFill>
                  <a:schemeClr val="accent1">
                    <a:lumMod val="75000"/>
                  </a:schemeClr>
                </a:solidFill>
              </a:rPr>
              <a:t> dans le </a:t>
            </a:r>
            <a:r>
              <a:rPr sz="1600" b="0" dirty="0" err="1">
                <a:solidFill>
                  <a:schemeClr val="accent1">
                    <a:lumMod val="75000"/>
                  </a:schemeClr>
                </a:solidFill>
              </a:rPr>
              <a:t>systeme</a:t>
            </a:r>
            <a:r>
              <a:rPr sz="1600" b="0" dirty="0">
                <a:solidFill>
                  <a:schemeClr val="accent1">
                    <a:lumMod val="75000"/>
                  </a:schemeClr>
                </a:solidFill>
              </a:rPr>
              <a:t> sanitaire.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62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274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620A"/>
                </a:solidFill>
                <a:latin typeface="Segoe UI"/>
              </a:rPr>
              <a:t>LE PROBLÈME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"/>
            <a:ext cx="5486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C2340"/>
                </a:solidFill>
                <a:latin typeface="Segoe UI"/>
              </a:rPr>
              <a:t>L'accès aux soins en Afrique :
une réalité difficile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2103120"/>
            <a:ext cx="3566160" cy="1737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22402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1C2340"/>
                </a:solidFill>
                <a:latin typeface="Segoe UI"/>
              </a:rPr>
              <a:t>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7889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2340"/>
                </a:solidFill>
                <a:latin typeface="Segoe UI"/>
              </a:rPr>
              <a:t>Trouver un centre de santé équipé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310896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E99B0"/>
                </a:solidFill>
                <a:latin typeface="Segoe UI"/>
              </a:rPr>
              <a:t>Impossible de savoir à l'avance les services disponibles ni les distances réelles.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0" y="2103120"/>
            <a:ext cx="3566160" cy="1737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251960" y="22402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1C2340"/>
                </a:solidFill>
                <a:latin typeface="Segoe UI"/>
              </a:rPr>
              <a:t>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51960" y="27889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2340"/>
                </a:solidFill>
                <a:latin typeface="Segoe UI"/>
              </a:rPr>
              <a:t>Urgences sans coordination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60" y="310896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E99B0"/>
                </a:solidFill>
                <a:latin typeface="Segoe UI"/>
              </a:rPr>
              <a:t>Pas de système unifié pour alerter le SAMU, les pompiers ou la police et suivre l'intervention.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4114800"/>
            <a:ext cx="3566160" cy="1737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11480" y="425196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1C2340"/>
                </a:solidFill>
                <a:latin typeface="Segoe UI"/>
              </a:rPr>
              <a:t>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48006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 err="1">
                <a:solidFill>
                  <a:srgbClr val="1C2340"/>
                </a:solidFill>
                <a:latin typeface="Segoe UI"/>
              </a:rPr>
              <a:t>Plaintes</a:t>
            </a:r>
            <a:r>
              <a:rPr sz="1300" b="1" i="0" dirty="0">
                <a:solidFill>
                  <a:srgbClr val="1C2340"/>
                </a:solidFill>
                <a:latin typeface="Segoe UI"/>
              </a:rPr>
              <a:t> sans </a:t>
            </a:r>
            <a:r>
              <a:rPr sz="1300" b="1" i="0" dirty="0" err="1">
                <a:solidFill>
                  <a:srgbClr val="1C2340"/>
                </a:solidFill>
                <a:latin typeface="Segoe UI"/>
              </a:rPr>
              <a:t>réponse</a:t>
            </a:r>
            <a:endParaRPr sz="1300" b="1" i="0" dirty="0">
              <a:solidFill>
                <a:srgbClr val="1C2340"/>
              </a:solidFill>
              <a:latin typeface="Segoe U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11480" y="512064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E99B0"/>
                </a:solidFill>
                <a:latin typeface="Segoe UI"/>
              </a:rPr>
              <a:t>Les patients n'ont aucun canal officiel pour signaler les mauvaises pratiques.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0" y="4114800"/>
            <a:ext cx="3566160" cy="1737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251960" y="425196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1C2340"/>
                </a:solidFill>
                <a:latin typeface="Segoe UI"/>
              </a:rPr>
              <a:t>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51960" y="48006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2340"/>
                </a:solidFill>
                <a:latin typeface="Segoe UI"/>
              </a:rPr>
              <a:t>Déconnexion dans les zones rurales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51960" y="512064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E99B0"/>
                </a:solidFill>
                <a:latin typeface="Segoe UI"/>
              </a:rPr>
              <a:t>Les réseaux instables coupent l'accès aux services critiques au pire moment.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46720" y="457200"/>
            <a:ext cx="3840480" cy="5943600"/>
          </a:xfrm>
          <a:prstGeom prst="rect">
            <a:avLst/>
          </a:prstGeom>
          <a:solidFill>
            <a:srgbClr val="1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046720" y="82296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9688"/>
                </a:solidFill>
                <a:latin typeface="Segoe UI"/>
              </a:rPr>
              <a:t>Le saviez-vous 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0" y="1554480"/>
            <a:ext cx="3840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E8620A"/>
                </a:solidFill>
                <a:latin typeface="Segoe UI"/>
              </a:rPr>
              <a:t>60%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0" y="2148840"/>
            <a:ext cx="384048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dirty="0">
                <a:solidFill>
                  <a:srgbClr val="FFFFFF"/>
                </a:solidFill>
                <a:latin typeface="Segoe UI"/>
              </a:rPr>
              <a:t>des </a:t>
            </a:r>
            <a:r>
              <a:rPr sz="1100" b="0" i="0" dirty="0" err="1">
                <a:solidFill>
                  <a:srgbClr val="FFFFFF"/>
                </a:solidFill>
                <a:latin typeface="Segoe UI"/>
              </a:rPr>
              <a:t>Africains</a:t>
            </a:r>
            <a:r>
              <a:rPr sz="1100" b="0" i="0" dirty="0">
                <a:solidFill>
                  <a:srgbClr val="FFFFFF"/>
                </a:solidFill>
                <a:latin typeface="Segoe UI"/>
              </a:rPr>
              <a:t> n</a:t>
            </a:r>
            <a:r>
              <a:rPr lang="fr-CI" sz="1100" b="0" i="0" dirty="0">
                <a:solidFill>
                  <a:srgbClr val="FFFFFF"/>
                </a:solidFill>
                <a:latin typeface="Segoe UI"/>
              </a:rPr>
              <a:t>e savent</a:t>
            </a:r>
            <a:r>
              <a:rPr sz="1100" b="0" i="0" dirty="0">
                <a:solidFill>
                  <a:srgbClr val="FFFFFF"/>
                </a:solidFill>
                <a:latin typeface="Segoe UI"/>
              </a:rPr>
              <a:t> pas </a:t>
            </a:r>
            <a:r>
              <a:rPr lang="fr-CI" sz="1100" dirty="0">
                <a:solidFill>
                  <a:srgbClr val="FFFFFF"/>
                </a:solidFill>
                <a:latin typeface="Segoe UI"/>
              </a:rPr>
              <a:t>ou trouver </a:t>
            </a:r>
          </a:p>
          <a:p>
            <a:pPr algn="ctr"/>
            <a:r>
              <a:rPr sz="1100" b="0" i="0" dirty="0">
                <a:solidFill>
                  <a:srgbClr val="FFFFFF"/>
                </a:solidFill>
                <a:latin typeface="Segoe UI"/>
              </a:rPr>
              <a:t>à un </a:t>
            </a:r>
            <a:r>
              <a:rPr sz="1100" b="0" i="0" dirty="0" err="1">
                <a:solidFill>
                  <a:srgbClr val="FFFFFF"/>
                </a:solidFill>
                <a:latin typeface="Segoe UI"/>
              </a:rPr>
              <a:t>médecin</a:t>
            </a:r>
            <a:r>
              <a:rPr sz="1100" b="0" i="0" dirty="0">
                <a:solidFill>
                  <a:srgbClr val="FFFFFF"/>
                </a:solidFill>
                <a:latin typeface="Segoe UI"/>
              </a:rPr>
              <a:t> à </a:t>
            </a:r>
            <a:r>
              <a:rPr sz="1100" b="0" i="0" dirty="0" err="1">
                <a:solidFill>
                  <a:srgbClr val="FFFFFF"/>
                </a:solidFill>
                <a:latin typeface="Segoe UI"/>
              </a:rPr>
              <a:t>moins</a:t>
            </a:r>
            <a:r>
              <a:rPr sz="1100" b="0" i="0" dirty="0">
                <a:solidFill>
                  <a:srgbClr val="FFFFFF"/>
                </a:solidFill>
                <a:latin typeface="Segoe UI"/>
              </a:rPr>
              <a:t> de 5 km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0" y="3108960"/>
            <a:ext cx="3840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E8620A"/>
                </a:solidFill>
                <a:latin typeface="Segoe UI"/>
              </a:rPr>
              <a:t>8 min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0" y="3703320"/>
            <a:ext cx="384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Segoe UI"/>
              </a:rPr>
              <a:t>de délai moyen gagné quand
l'urgence est bien géolocalisée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0" y="4663440"/>
            <a:ext cx="3840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E8620A"/>
                </a:solidFill>
                <a:latin typeface="Segoe UI"/>
              </a:rPr>
              <a:t>3 124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20" y="5257800"/>
            <a:ext cx="384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Segoe UI"/>
              </a:rPr>
              <a:t>centres de santé déjà
répertoriés dans la base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274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9688"/>
                </a:solidFill>
                <a:latin typeface="Segoe UI"/>
              </a:rPr>
              <a:t>NOTRE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"/>
            <a:ext cx="6858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Segoe UI"/>
              </a:rPr>
              <a:t>Une plateforme tout-en-un
pour la santé de proximité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920240"/>
            <a:ext cx="6858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 err="1">
                <a:solidFill>
                  <a:srgbClr val="BBCCDD"/>
                </a:solidFill>
                <a:latin typeface="Segoe UI"/>
              </a:rPr>
              <a:t>Santé</a:t>
            </a:r>
            <a:r>
              <a:rPr sz="1400" b="0" i="0" dirty="0">
                <a:solidFill>
                  <a:srgbClr val="BBCCDD"/>
                </a:solidFill>
                <a:latin typeface="Segoe UI"/>
              </a:rPr>
              <a:t> </a:t>
            </a:r>
            <a:r>
              <a:rPr sz="1400" b="0" i="0" dirty="0" err="1">
                <a:solidFill>
                  <a:srgbClr val="BBCCDD"/>
                </a:solidFill>
                <a:latin typeface="Segoe UI"/>
              </a:rPr>
              <a:t>Aproximite</a:t>
            </a:r>
            <a:r>
              <a:rPr lang="fr-CI" sz="1400" dirty="0">
                <a:solidFill>
                  <a:srgbClr val="BBCCDD"/>
                </a:solidFill>
                <a:latin typeface="Segoe UI"/>
              </a:rPr>
              <a:t> </a:t>
            </a:r>
            <a:r>
              <a:rPr sz="1400" b="0" i="0" dirty="0" err="1">
                <a:solidFill>
                  <a:srgbClr val="BBCCDD"/>
                </a:solidFill>
                <a:latin typeface="Segoe UI"/>
              </a:rPr>
              <a:t>connecte</a:t>
            </a:r>
            <a:r>
              <a:rPr sz="1400" b="0" i="0" dirty="0">
                <a:solidFill>
                  <a:srgbClr val="BBCCDD"/>
                </a:solidFill>
                <a:latin typeface="Segoe UI"/>
              </a:rPr>
              <a:t> </a:t>
            </a:r>
            <a:r>
              <a:rPr sz="1400" b="0" i="0" dirty="0" err="1">
                <a:solidFill>
                  <a:srgbClr val="BBCCDD"/>
                </a:solidFill>
                <a:latin typeface="Segoe UI"/>
              </a:rPr>
              <a:t>citoyens</a:t>
            </a:r>
            <a:r>
              <a:rPr sz="1400" b="0" i="0" dirty="0">
                <a:solidFill>
                  <a:srgbClr val="BBCCDD"/>
                </a:solidFill>
                <a:latin typeface="Segoe UI"/>
              </a:rPr>
              <a:t>, </a:t>
            </a:r>
            <a:r>
              <a:rPr sz="1400" b="0" i="0" dirty="0" err="1">
                <a:solidFill>
                  <a:srgbClr val="BBCCDD"/>
                </a:solidFill>
                <a:latin typeface="Segoe UI"/>
              </a:rPr>
              <a:t>établissements</a:t>
            </a:r>
            <a:r>
              <a:rPr sz="1400" b="0" i="0" dirty="0">
                <a:solidFill>
                  <a:srgbClr val="BBCCDD"/>
                </a:solidFill>
                <a:latin typeface="Segoe UI"/>
              </a:rPr>
              <a:t> de </a:t>
            </a:r>
            <a:r>
              <a:rPr sz="1400" b="0" i="0" dirty="0" err="1">
                <a:solidFill>
                  <a:srgbClr val="BBCCDD"/>
                </a:solidFill>
                <a:latin typeface="Segoe UI"/>
              </a:rPr>
              <a:t>santé</a:t>
            </a:r>
            <a:r>
              <a:rPr sz="1400" b="0" i="0" dirty="0">
                <a:solidFill>
                  <a:srgbClr val="BBCCDD"/>
                </a:solidFill>
                <a:latin typeface="Segoe UI"/>
              </a:rPr>
              <a:t> et secours
via </a:t>
            </a:r>
            <a:r>
              <a:rPr sz="1400" b="0" i="0" dirty="0" err="1">
                <a:solidFill>
                  <a:srgbClr val="BBCCDD"/>
                </a:solidFill>
                <a:latin typeface="Segoe UI"/>
              </a:rPr>
              <a:t>une</a:t>
            </a:r>
            <a:r>
              <a:rPr sz="1400" b="0" i="0" dirty="0">
                <a:solidFill>
                  <a:srgbClr val="BBCCDD"/>
                </a:solidFill>
                <a:latin typeface="Segoe UI"/>
              </a:rPr>
              <a:t> application mobile intuitive et hors-</a:t>
            </a:r>
            <a:r>
              <a:rPr sz="1400" b="0" i="0" dirty="0" err="1">
                <a:solidFill>
                  <a:srgbClr val="BBCCDD"/>
                </a:solidFill>
                <a:latin typeface="Segoe UI"/>
              </a:rPr>
              <a:t>ligne</a:t>
            </a:r>
            <a:r>
              <a:rPr sz="1400" b="0" i="0" dirty="0">
                <a:solidFill>
                  <a:srgbClr val="BBCCDD"/>
                </a:solidFill>
                <a:latin typeface="Segoe UI"/>
              </a:rPr>
              <a:t>, </a:t>
            </a:r>
            <a:r>
              <a:rPr sz="1400" b="0" i="0" dirty="0" err="1">
                <a:solidFill>
                  <a:srgbClr val="BBCCDD"/>
                </a:solidFill>
                <a:latin typeface="Segoe UI"/>
              </a:rPr>
              <a:t>géolocalisée</a:t>
            </a:r>
            <a:r>
              <a:rPr sz="1400" b="0" i="0" dirty="0">
                <a:solidFill>
                  <a:srgbClr val="BBCCDD"/>
                </a:solidFill>
                <a:latin typeface="Segoe UI"/>
              </a:rPr>
              <a:t> </a:t>
            </a:r>
            <a:r>
              <a:rPr sz="1400" b="0" i="0" dirty="0" err="1">
                <a:solidFill>
                  <a:srgbClr val="BBCCDD"/>
                </a:solidFill>
                <a:latin typeface="Segoe UI"/>
              </a:rPr>
              <a:t>en</a:t>
            </a:r>
            <a:r>
              <a:rPr sz="1400" b="0" i="0" dirty="0">
                <a:solidFill>
                  <a:srgbClr val="BBCCDD"/>
                </a:solidFill>
                <a:latin typeface="Segoe UI"/>
              </a:rPr>
              <a:t> temps </a:t>
            </a:r>
            <a:r>
              <a:rPr sz="1400" b="0" i="0" dirty="0" err="1">
                <a:solidFill>
                  <a:srgbClr val="BBCCDD"/>
                </a:solidFill>
                <a:latin typeface="Segoe UI"/>
              </a:rPr>
              <a:t>réel</a:t>
            </a:r>
            <a:r>
              <a:rPr sz="1400" b="0" i="0" dirty="0">
                <a:solidFill>
                  <a:srgbClr val="BBCCDD"/>
                </a:solidFill>
                <a:latin typeface="Segoe UI"/>
              </a:rPr>
              <a:t>.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19" y="2926080"/>
            <a:ext cx="2283651" cy="3474720"/>
          </a:xfrm>
          <a:prstGeom prst="rect">
            <a:avLst/>
          </a:prstGeom>
          <a:solidFill>
            <a:srgbClr val="252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1" y="2907411"/>
            <a:ext cx="2283650" cy="15011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FFFFFF"/>
                </a:solidFill>
                <a:latin typeface="Segoe UI"/>
              </a:rPr>
              <a:t>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79476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Découverte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206240"/>
            <a:ext cx="207687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BBCC"/>
                </a:solidFill>
                <a:latin typeface="Segoe UI"/>
              </a:rPr>
              <a:t>Trouvez le centre le plus proche
avec ses services et équipements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90063" y="2926080"/>
            <a:ext cx="2308947" cy="3474720"/>
          </a:xfrm>
          <a:prstGeom prst="rect">
            <a:avLst/>
          </a:prstGeom>
          <a:solidFill>
            <a:srgbClr val="252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790063" y="2926079"/>
            <a:ext cx="2308947" cy="131445"/>
          </a:xfrm>
          <a:prstGeom prst="rect">
            <a:avLst/>
          </a:prstGeom>
          <a:solidFill>
            <a:srgbClr val="E862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972943" y="310896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FFFFFF"/>
                </a:solidFill>
                <a:latin typeface="Segoe UI"/>
              </a:rPr>
              <a:t>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59740" y="3813429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Urgences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76886" y="4206240"/>
            <a:ext cx="222212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 err="1">
                <a:solidFill>
                  <a:srgbClr val="AABBCC"/>
                </a:solidFill>
                <a:latin typeface="Segoe UI"/>
              </a:rPr>
              <a:t>Signalez</a:t>
            </a:r>
            <a:r>
              <a:rPr sz="1000" b="0" i="0" dirty="0">
                <a:solidFill>
                  <a:srgbClr val="AABBCC"/>
                </a:solidFill>
                <a:latin typeface="Segoe UI"/>
              </a:rPr>
              <a:t> et suivez </a:t>
            </a:r>
            <a:r>
              <a:rPr sz="1000" b="0" i="0" dirty="0" err="1">
                <a:solidFill>
                  <a:srgbClr val="AABBCC"/>
                </a:solidFill>
                <a:latin typeface="Segoe UI"/>
              </a:rPr>
              <a:t>toute</a:t>
            </a:r>
            <a:r>
              <a:rPr sz="1000" b="0" i="0" dirty="0">
                <a:solidFill>
                  <a:srgbClr val="AABBCC"/>
                </a:solidFill>
                <a:latin typeface="Segoe UI"/>
              </a:rPr>
              <a:t> urgence
</a:t>
            </a:r>
            <a:r>
              <a:rPr sz="1000" b="0" i="0" dirty="0" err="1">
                <a:solidFill>
                  <a:srgbClr val="AABBCC"/>
                </a:solidFill>
                <a:latin typeface="Segoe UI"/>
              </a:rPr>
              <a:t>médical</a:t>
            </a:r>
            <a:r>
              <a:rPr sz="1000" b="0" i="0" dirty="0">
                <a:solidFill>
                  <a:srgbClr val="AABBCC"/>
                </a:solidFill>
                <a:latin typeface="Segoe UI"/>
              </a:rPr>
              <a:t> </a:t>
            </a:r>
            <a:r>
              <a:rPr sz="1000" b="0" i="0" dirty="0" err="1">
                <a:solidFill>
                  <a:srgbClr val="AABBCC"/>
                </a:solidFill>
                <a:latin typeface="Segoe UI"/>
              </a:rPr>
              <a:t>ou</a:t>
            </a:r>
            <a:r>
              <a:rPr sz="1000" b="0" i="0" dirty="0">
                <a:solidFill>
                  <a:srgbClr val="AABBCC"/>
                </a:solidFill>
                <a:latin typeface="Segoe UI"/>
              </a:rPr>
              <a:t> </a:t>
            </a:r>
            <a:r>
              <a:rPr sz="1000" b="0" i="0" dirty="0" err="1">
                <a:solidFill>
                  <a:srgbClr val="AABBCC"/>
                </a:solidFill>
                <a:latin typeface="Segoe UI"/>
              </a:rPr>
              <a:t>sécuritaire</a:t>
            </a:r>
            <a:r>
              <a:rPr sz="1000" b="0" i="0" dirty="0">
                <a:solidFill>
                  <a:srgbClr val="AABBCC"/>
                </a:solidFill>
                <a:latin typeface="Segoe UI"/>
              </a:rPr>
              <a:t> </a:t>
            </a:r>
            <a:r>
              <a:rPr sz="1000" b="0" i="0" dirty="0" err="1">
                <a:solidFill>
                  <a:srgbClr val="AABBCC"/>
                </a:solidFill>
                <a:latin typeface="Segoe UI"/>
              </a:rPr>
              <a:t>en</a:t>
            </a:r>
            <a:r>
              <a:rPr sz="1000" b="0" i="0" dirty="0">
                <a:solidFill>
                  <a:srgbClr val="AABBCC"/>
                </a:solidFill>
                <a:latin typeface="Segoe UI"/>
              </a:rPr>
              <a:t> temps </a:t>
            </a:r>
            <a:r>
              <a:rPr sz="1000" b="0" i="0" dirty="0" err="1">
                <a:solidFill>
                  <a:srgbClr val="AABBCC"/>
                </a:solidFill>
                <a:latin typeface="Segoe UI"/>
              </a:rPr>
              <a:t>réel</a:t>
            </a:r>
            <a:endParaRPr sz="1000" b="0" i="0" dirty="0">
              <a:solidFill>
                <a:srgbClr val="AABBCC"/>
              </a:solidFill>
              <a:latin typeface="Segoe UI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296281" y="2926080"/>
            <a:ext cx="2308947" cy="3474720"/>
          </a:xfrm>
          <a:prstGeom prst="rect">
            <a:avLst/>
          </a:prstGeom>
          <a:solidFill>
            <a:srgbClr val="252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296281" y="2926080"/>
            <a:ext cx="2308947" cy="109728"/>
          </a:xfrm>
          <a:prstGeom prst="rect">
            <a:avLst/>
          </a:prstGeom>
          <a:solidFill>
            <a:srgbClr val="7B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79161" y="3108960"/>
            <a:ext cx="615719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FFFFFF"/>
                </a:solidFill>
                <a:latin typeface="Segoe UI"/>
              </a:rPr>
              <a:t>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79161" y="3794760"/>
            <a:ext cx="2078052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Plaintes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79161" y="4206240"/>
            <a:ext cx="20780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BBCC"/>
                </a:solidFill>
                <a:latin typeface="Segoe UI"/>
              </a:rPr>
              <a:t>Déposez et suivez vos plaintes
avec réponse officielle garantie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64399" y="2926080"/>
            <a:ext cx="2141601" cy="3474720"/>
          </a:xfrm>
          <a:prstGeom prst="rect">
            <a:avLst/>
          </a:prstGeom>
          <a:solidFill>
            <a:srgbClr val="252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764399" y="2926080"/>
            <a:ext cx="2141601" cy="10972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947279" y="3108960"/>
            <a:ext cx="571094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 dirty="0">
                <a:solidFill>
                  <a:srgbClr val="FFFFFF"/>
                </a:solidFill>
                <a:latin typeface="Segoe UI"/>
              </a:rPr>
              <a:t>📊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47279" y="3794760"/>
            <a:ext cx="1927441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 dirty="0">
                <a:solidFill>
                  <a:srgbClr val="FFFFFF"/>
                </a:solidFill>
                <a:latin typeface="Segoe UI"/>
              </a:rPr>
              <a:t>Gestion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47279" y="4206240"/>
            <a:ext cx="1927441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BBCC"/>
                </a:solidFill>
                <a:latin typeface="Segoe UI"/>
              </a:rPr>
              <a:t>Pilotez votre établissement
statistiques, notation, approbation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041548" y="2137410"/>
            <a:ext cx="2110153" cy="4572000"/>
          </a:xfrm>
          <a:prstGeom prst="roundRect">
            <a:avLst>
              <a:gd name="adj" fmla="val 8000"/>
            </a:avLst>
          </a:prstGeom>
          <a:solidFill>
            <a:srgbClr val="22222A"/>
          </a:solidFill>
          <a:ln w="2540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Picture 28" descr="01-cent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8157" y="2457450"/>
            <a:ext cx="1856935" cy="3931920"/>
          </a:xfrm>
          <a:prstGeom prst="rect">
            <a:avLst/>
          </a:prstGeom>
        </p:spPr>
      </p:pic>
      <p:sp>
        <p:nvSpPr>
          <p:cNvPr id="30" name="Rectangle 29"/>
          <p:cNvSpPr/>
          <p:nvPr/>
        </p:nvSpPr>
        <p:spPr>
          <a:xfrm>
            <a:off x="9284676" y="5687568"/>
            <a:ext cx="633046" cy="45720"/>
          </a:xfrm>
          <a:prstGeom prst="rect">
            <a:avLst/>
          </a:prstGeom>
          <a:solidFill>
            <a:srgbClr val="888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20116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9688"/>
                </a:solidFill>
                <a:latin typeface="Segoe UI"/>
              </a:rPr>
              <a:t>FONCTIONNALITÉ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502920"/>
            <a:ext cx="7315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Centres de Santé à Proximité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600200"/>
            <a:ext cx="338328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1600200"/>
            <a:ext cx="73152" cy="12344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6916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C2340"/>
                </a:solidFill>
                <a:latin typeface="Segoe UI"/>
              </a:rPr>
              <a:t>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169164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C2340"/>
                </a:solidFill>
                <a:latin typeface="Segoe UI"/>
              </a:rPr>
              <a:t>Carte GPS interactive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039112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E99B0"/>
                </a:solidFill>
                <a:latin typeface="Segoe UI"/>
              </a:rPr>
              <a:t>Visualisez les centres autour de vous avec des marqueurs colorés sur Google Maps.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31920" y="1600200"/>
            <a:ext cx="338328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931920" y="1600200"/>
            <a:ext cx="73152" cy="12344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114800" y="16916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C2340"/>
                </a:solidFill>
                <a:latin typeface="Segoe UI"/>
              </a:rPr>
              <a:t>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60" y="169164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C2340"/>
                </a:solidFill>
                <a:latin typeface="Segoe UI"/>
              </a:rPr>
              <a:t>Recherche filtrée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60" y="2039112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E99B0"/>
                </a:solidFill>
                <a:latin typeface="Segoe UI"/>
              </a:rPr>
              <a:t>Filtrez par nom de centre ou service spécifique. Rayon ajustable de 1 à 700 km.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017520"/>
            <a:ext cx="338328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74320" y="3017520"/>
            <a:ext cx="73152" cy="12344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" y="31089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C2340"/>
                </a:solidFill>
                <a:latin typeface="Segoe UI"/>
              </a:rPr>
              <a:t>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310896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C2340"/>
                </a:solidFill>
                <a:latin typeface="Segoe UI"/>
              </a:rPr>
              <a:t>Notes &amp; Satisfaction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3456432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E99B0"/>
                </a:solidFill>
                <a:latin typeface="Segoe UI"/>
              </a:rPr>
              <a:t>Consultez les avis d'autres patients, notez de 1 à 5 étoiles, signalez votre satisfaction.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931920" y="3017520"/>
            <a:ext cx="338328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931920" y="3017520"/>
            <a:ext cx="73152" cy="12344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114800" y="31089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C2340"/>
                </a:solidFill>
                <a:latin typeface="Segoe UI"/>
              </a:rPr>
              <a:t>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9160" y="310896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C2340"/>
                </a:solidFill>
                <a:latin typeface="Segoe UI"/>
              </a:rPr>
              <a:t>Itinéraire en 1 clic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09160" y="3456432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E99B0"/>
                </a:solidFill>
                <a:latin typeface="Segoe UI"/>
              </a:rPr>
              <a:t>Lance directement Google Maps pour vous guider jusqu'au centre choisi.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4434840"/>
            <a:ext cx="338328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274320" y="4434840"/>
            <a:ext cx="73152" cy="12344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7200" y="45262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C2340"/>
                </a:solidFill>
                <a:latin typeface="Segoe UI"/>
              </a:rPr>
              <a:t>📡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" y="452628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C2340"/>
                </a:solidFill>
                <a:latin typeface="Segoe UI"/>
              </a:rPr>
              <a:t>Données hors-ligne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" y="4873752"/>
            <a:ext cx="2468880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 dirty="0">
                <a:solidFill>
                  <a:srgbClr val="8E99B0"/>
                </a:solidFill>
                <a:latin typeface="Segoe UI"/>
              </a:rPr>
              <a:t>3 124 </a:t>
            </a:r>
            <a:r>
              <a:rPr sz="950" b="0" i="0" dirty="0" err="1">
                <a:solidFill>
                  <a:srgbClr val="8E99B0"/>
                </a:solidFill>
                <a:latin typeface="Segoe UI"/>
              </a:rPr>
              <a:t>centres</a:t>
            </a:r>
            <a:r>
              <a:rPr sz="950" b="0" i="0" dirty="0">
                <a:solidFill>
                  <a:srgbClr val="8E99B0"/>
                </a:solidFill>
                <a:latin typeface="Segoe UI"/>
              </a:rPr>
              <a:t> </a:t>
            </a:r>
            <a:r>
              <a:rPr sz="950" b="0" i="0" dirty="0" err="1">
                <a:solidFill>
                  <a:srgbClr val="8E99B0"/>
                </a:solidFill>
                <a:latin typeface="Segoe UI"/>
              </a:rPr>
              <a:t>synchronisés</a:t>
            </a:r>
            <a:r>
              <a:rPr sz="950" b="0" i="0" dirty="0">
                <a:solidFill>
                  <a:srgbClr val="8E99B0"/>
                </a:solidFill>
                <a:latin typeface="Segoe UI"/>
              </a:rPr>
              <a:t> </a:t>
            </a:r>
            <a:r>
              <a:rPr sz="950" b="0" i="0" dirty="0" err="1">
                <a:solidFill>
                  <a:srgbClr val="8E99B0"/>
                </a:solidFill>
                <a:latin typeface="Segoe UI"/>
              </a:rPr>
              <a:t>localement</a:t>
            </a:r>
            <a:r>
              <a:rPr lang="fr-FR" sz="950" b="0" i="0" dirty="0">
                <a:solidFill>
                  <a:srgbClr val="8E99B0"/>
                </a:solidFill>
                <a:latin typeface="Segoe UI"/>
              </a:rPr>
              <a:t>-</a:t>
            </a:r>
            <a:r>
              <a:rPr sz="950" b="0" i="0" dirty="0" err="1">
                <a:solidFill>
                  <a:srgbClr val="8E99B0"/>
                </a:solidFill>
                <a:latin typeface="Segoe UI"/>
              </a:rPr>
              <a:t>consultables</a:t>
            </a:r>
            <a:r>
              <a:rPr sz="950" b="0" i="0" dirty="0">
                <a:solidFill>
                  <a:srgbClr val="8E99B0"/>
                </a:solidFill>
                <a:latin typeface="Segoe UI"/>
              </a:rPr>
              <a:t> </a:t>
            </a:r>
            <a:r>
              <a:rPr sz="950" b="0" i="0" dirty="0" err="1">
                <a:solidFill>
                  <a:srgbClr val="8E99B0"/>
                </a:solidFill>
                <a:latin typeface="Segoe UI"/>
              </a:rPr>
              <a:t>même</a:t>
            </a:r>
            <a:r>
              <a:rPr sz="950" b="0" i="0" dirty="0">
                <a:solidFill>
                  <a:srgbClr val="8E99B0"/>
                </a:solidFill>
                <a:latin typeface="Segoe UI"/>
              </a:rPr>
              <a:t> sans </a:t>
            </a:r>
            <a:r>
              <a:rPr sz="950" b="0" i="0" dirty="0" err="1">
                <a:solidFill>
                  <a:srgbClr val="8E99B0"/>
                </a:solidFill>
                <a:latin typeface="Segoe UI"/>
              </a:rPr>
              <a:t>réseau</a:t>
            </a:r>
            <a:r>
              <a:rPr sz="950" b="0" i="0" dirty="0">
                <a:solidFill>
                  <a:srgbClr val="8E99B0"/>
                </a:solidFill>
                <a:latin typeface="Segoe UI"/>
              </a:rPr>
              <a:t>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931920" y="4434840"/>
            <a:ext cx="338328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3931920" y="4434840"/>
            <a:ext cx="73152" cy="12344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114800" y="45262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C2340"/>
                </a:solidFill>
                <a:latin typeface="Segoe UI"/>
              </a:rPr>
              <a:t>🏗️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09160" y="452628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C2340"/>
                </a:solidFill>
                <a:latin typeface="Segoe UI"/>
              </a:rPr>
              <a:t>Plateau technique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09160" y="4873752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E99B0"/>
                </a:solidFill>
                <a:latin typeface="Segoe UI"/>
              </a:rPr>
              <a:t>Connaissez les équipements disponibles avant même de vous déplacer.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62253" y="1457325"/>
            <a:ext cx="2110153" cy="4572000"/>
          </a:xfrm>
          <a:prstGeom prst="roundRect">
            <a:avLst>
              <a:gd name="adj" fmla="val 8000"/>
            </a:avLst>
          </a:prstGeom>
          <a:solidFill>
            <a:srgbClr val="22222A"/>
          </a:solidFill>
          <a:ln w="2540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9" name="Picture 38" descr="01-cent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8862" y="1777365"/>
            <a:ext cx="1856935" cy="3931920"/>
          </a:xfrm>
          <a:prstGeom prst="rect">
            <a:avLst/>
          </a:prstGeom>
        </p:spPr>
      </p:pic>
      <p:sp>
        <p:nvSpPr>
          <p:cNvPr id="40" name="Rectangle 39"/>
          <p:cNvSpPr/>
          <p:nvPr/>
        </p:nvSpPr>
        <p:spPr>
          <a:xfrm>
            <a:off x="9010356" y="5779008"/>
            <a:ext cx="633046" cy="45720"/>
          </a:xfrm>
          <a:prstGeom prst="rect">
            <a:avLst/>
          </a:prstGeom>
          <a:solidFill>
            <a:srgbClr val="888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62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20116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8620A"/>
                </a:solidFill>
                <a:latin typeface="Segoe UI"/>
              </a:rPr>
              <a:t>FONCTIONNALITÉ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502920"/>
            <a:ext cx="7315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Urgences Sanitaires 24/7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600200"/>
            <a:ext cx="694944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411480" y="1828800"/>
            <a:ext cx="594360" cy="594360"/>
          </a:xfrm>
          <a:prstGeom prst="ellipse">
            <a:avLst/>
          </a:prstGeom>
          <a:solidFill>
            <a:srgbClr val="E862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" y="182880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691640"/>
            <a:ext cx="5852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C2340"/>
                </a:solidFill>
                <a:latin typeface="Segoe UI"/>
              </a:rPr>
              <a:t>Choisissez le service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075688"/>
            <a:ext cx="5852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E99B0"/>
                </a:solidFill>
                <a:latin typeface="Segoe UI"/>
              </a:rPr>
              <a:t>SAMU (médical) ou Sapeurs-Pompiers (incendie, accidents, secours)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770632"/>
            <a:ext cx="694944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11480" y="2999232"/>
            <a:ext cx="594360" cy="594360"/>
          </a:xfrm>
          <a:prstGeom prst="ellipse">
            <a:avLst/>
          </a:prstGeom>
          <a:solidFill>
            <a:srgbClr val="FF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11480" y="2999232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2862072"/>
            <a:ext cx="5852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C2340"/>
                </a:solidFill>
                <a:latin typeface="Segoe UI"/>
              </a:rPr>
              <a:t>Décrivez l'urgence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246120"/>
            <a:ext cx="5852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E99B0"/>
                </a:solidFill>
                <a:latin typeface="Segoe UI"/>
              </a:rPr>
              <a:t>Type d'urgence parmi 8 catégories + description libre + photos optionnelles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941064"/>
            <a:ext cx="694944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411480" y="4169664"/>
            <a:ext cx="594360" cy="594360"/>
          </a:xfrm>
          <a:prstGeom prst="ellipse">
            <a:avLst/>
          </a:prstGeom>
          <a:solidFill>
            <a:srgbClr val="FF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11480" y="4169664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4032504"/>
            <a:ext cx="5852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C2340"/>
                </a:solidFill>
                <a:latin typeface="Segoe UI"/>
              </a:rPr>
              <a:t>Capturez votre position GPS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4416552"/>
            <a:ext cx="58521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 err="1">
                <a:solidFill>
                  <a:srgbClr val="8E99B0"/>
                </a:solidFill>
                <a:latin typeface="Segoe UI"/>
              </a:rPr>
              <a:t>Précision</a:t>
            </a:r>
            <a:r>
              <a:rPr sz="1100" b="0" i="0" dirty="0">
                <a:solidFill>
                  <a:srgbClr val="8E99B0"/>
                </a:solidFill>
                <a:latin typeface="Segoe UI"/>
              </a:rPr>
              <a:t> ≤ 300 m </a:t>
            </a:r>
            <a:r>
              <a:rPr sz="1100" b="0" i="0" dirty="0" err="1">
                <a:solidFill>
                  <a:srgbClr val="8E99B0"/>
                </a:solidFill>
                <a:latin typeface="Segoe UI"/>
              </a:rPr>
              <a:t>exigée</a:t>
            </a:r>
            <a:r>
              <a:rPr sz="1100" b="0" i="0" dirty="0">
                <a:solidFill>
                  <a:srgbClr val="8E99B0"/>
                </a:solidFill>
                <a:latin typeface="Segoe UI"/>
              </a:rPr>
              <a:t> </a:t>
            </a:r>
            <a:r>
              <a:rPr lang="fr-CI" sz="1100" dirty="0">
                <a:solidFill>
                  <a:srgbClr val="8E99B0"/>
                </a:solidFill>
                <a:latin typeface="Segoe UI"/>
              </a:rPr>
              <a:t>- </a:t>
            </a:r>
            <a:r>
              <a:rPr sz="1100" b="0" i="0" dirty="0">
                <a:solidFill>
                  <a:srgbClr val="8E99B0"/>
                </a:solidFill>
                <a:latin typeface="Segoe UI"/>
              </a:rPr>
              <a:t>code couleur pour </a:t>
            </a:r>
            <a:r>
              <a:rPr sz="1100" b="0" i="0" dirty="0" err="1">
                <a:solidFill>
                  <a:srgbClr val="8E99B0"/>
                </a:solidFill>
                <a:latin typeface="Segoe UI"/>
              </a:rPr>
              <a:t>valider</a:t>
            </a:r>
            <a:r>
              <a:rPr sz="1100" b="0" i="0" dirty="0">
                <a:solidFill>
                  <a:srgbClr val="8E99B0"/>
                </a:solidFill>
                <a:latin typeface="Segoe UI"/>
              </a:rPr>
              <a:t> la </a:t>
            </a:r>
            <a:r>
              <a:rPr sz="1100" b="0" i="0" dirty="0" err="1">
                <a:solidFill>
                  <a:srgbClr val="8E99B0"/>
                </a:solidFill>
                <a:latin typeface="Segoe UI"/>
              </a:rPr>
              <a:t>précision</a:t>
            </a:r>
            <a:endParaRPr sz="1100" b="0" i="0" dirty="0">
              <a:solidFill>
                <a:srgbClr val="8E99B0"/>
              </a:solidFill>
              <a:latin typeface="Segoe UI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274320" y="5111496"/>
            <a:ext cx="694944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411480" y="5340096"/>
            <a:ext cx="594360" cy="594360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11480" y="5340096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5202936"/>
            <a:ext cx="5852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C2340"/>
                </a:solidFill>
                <a:latin typeface="Segoe UI"/>
              </a:rPr>
              <a:t>Suivi en temps réel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" y="5586984"/>
            <a:ext cx="5852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E99B0"/>
                </a:solidFill>
                <a:latin typeface="Segoe UI"/>
              </a:rPr>
              <a:t>Nouveau → Pris en charge → En route → Sur place → Terminé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6080760"/>
            <a:ext cx="6949440" cy="594360"/>
          </a:xfrm>
          <a:prstGeom prst="rect">
            <a:avLst/>
          </a:prstGeom>
          <a:solidFill>
            <a:srgbClr val="FFE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74320" y="6080760"/>
            <a:ext cx="6949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8620A"/>
                </a:solidFill>
                <a:latin typeface="Segoe UI"/>
              </a:rPr>
              <a:t>📞  Appel rapide intégré :  SAMU 15   |   Pompiers 18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71803" y="1371600"/>
            <a:ext cx="2110153" cy="4572000"/>
          </a:xfrm>
          <a:prstGeom prst="roundRect">
            <a:avLst>
              <a:gd name="adj" fmla="val 8000"/>
            </a:avLst>
          </a:prstGeom>
          <a:solidFill>
            <a:srgbClr val="22222A"/>
          </a:solidFill>
          <a:ln w="2540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1" name="Picture 30" descr="04-urgence-sanitai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8412" y="1691640"/>
            <a:ext cx="1856935" cy="3931920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9010356" y="5779008"/>
            <a:ext cx="633046" cy="45720"/>
          </a:xfrm>
          <a:prstGeom prst="rect">
            <a:avLst/>
          </a:prstGeom>
          <a:solidFill>
            <a:srgbClr val="888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7B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B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20116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AAFF"/>
                </a:solidFill>
                <a:latin typeface="Segoe UI"/>
              </a:rPr>
              <a:t>FONCTIONNALITÉ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502920"/>
            <a:ext cx="7315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Urgences Sécuritaires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554480"/>
            <a:ext cx="2331720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1554480"/>
            <a:ext cx="2331720" cy="457200"/>
          </a:xfrm>
          <a:prstGeom prst="rect">
            <a:avLst/>
          </a:prstGeom>
          <a:solidFill>
            <a:srgbClr val="7B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20040" y="162763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Segoe UI"/>
              </a:rPr>
              <a:t>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10312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C2340"/>
                </a:solidFill>
                <a:latin typeface="Segoe UI"/>
              </a:rPr>
              <a:t>Police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606040"/>
            <a:ext cx="1920240" cy="320040"/>
          </a:xfrm>
          <a:prstGeom prst="roundRect">
            <a:avLst>
              <a:gd name="adj" fmla="val 50000"/>
            </a:avLst>
          </a:prstGeom>
          <a:solidFill>
            <a:srgbClr val="F0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260604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B5EA7"/>
                </a:solidFill>
                <a:latin typeface="Segoe UI"/>
              </a:rPr>
              <a:t>Agression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044952"/>
            <a:ext cx="1920240" cy="320040"/>
          </a:xfrm>
          <a:prstGeom prst="roundRect">
            <a:avLst>
              <a:gd name="adj" fmla="val 50000"/>
            </a:avLst>
          </a:prstGeom>
          <a:solidFill>
            <a:srgbClr val="F0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3044952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B5EA7"/>
                </a:solidFill>
                <a:latin typeface="Segoe UI"/>
              </a:rPr>
              <a:t>Vol/braquage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483864"/>
            <a:ext cx="1920240" cy="320040"/>
          </a:xfrm>
          <a:prstGeom prst="roundRect">
            <a:avLst>
              <a:gd name="adj" fmla="val 50000"/>
            </a:avLst>
          </a:prstGeom>
          <a:solidFill>
            <a:srgbClr val="F0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" y="3483864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B5EA7"/>
                </a:solidFill>
                <a:latin typeface="Segoe UI"/>
              </a:rPr>
              <a:t>Attroupement suspect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922776"/>
            <a:ext cx="1920240" cy="320040"/>
          </a:xfrm>
          <a:prstGeom prst="roundRect">
            <a:avLst>
              <a:gd name="adj" fmla="val 50000"/>
            </a:avLst>
          </a:prstGeom>
          <a:solidFill>
            <a:srgbClr val="F0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" y="3922776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B5EA7"/>
                </a:solidFill>
                <a:latin typeface="Segoe UI"/>
              </a:rPr>
              <a:t>Intrusion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361688"/>
            <a:ext cx="1920240" cy="320040"/>
          </a:xfrm>
          <a:prstGeom prst="roundRect">
            <a:avLst>
              <a:gd name="adj" fmla="val 50000"/>
            </a:avLst>
          </a:prstGeom>
          <a:solidFill>
            <a:srgbClr val="F0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7200" y="436168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B5EA7"/>
                </a:solidFill>
                <a:latin typeface="Segoe UI"/>
              </a:rPr>
              <a:t>Drogue/fumoir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0" y="1554480"/>
            <a:ext cx="2331720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2743200" y="1554480"/>
            <a:ext cx="2331720" cy="457200"/>
          </a:xfrm>
          <a:prstGeom prst="rect">
            <a:avLst/>
          </a:prstGeom>
          <a:solidFill>
            <a:srgbClr val="4A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788920" y="162763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Segoe UI"/>
              </a:rPr>
              <a:t>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6080" y="210312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C2340"/>
                </a:solidFill>
                <a:latin typeface="Segoe UI"/>
              </a:rPr>
              <a:t>Gendarmerie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926080" y="2606040"/>
            <a:ext cx="1920240" cy="320040"/>
          </a:xfrm>
          <a:prstGeom prst="roundRect">
            <a:avLst>
              <a:gd name="adj" fmla="val 50000"/>
            </a:avLst>
          </a:prstGeom>
          <a:solidFill>
            <a:srgbClr val="F0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926080" y="260604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4A8A"/>
                </a:solidFill>
                <a:latin typeface="Segoe UI"/>
              </a:rPr>
              <a:t>Attaque armée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926080" y="3044952"/>
            <a:ext cx="1920240" cy="320040"/>
          </a:xfrm>
          <a:prstGeom prst="roundRect">
            <a:avLst>
              <a:gd name="adj" fmla="val 50000"/>
            </a:avLst>
          </a:prstGeom>
          <a:solidFill>
            <a:srgbClr val="F0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926080" y="3044952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4A8A"/>
                </a:solidFill>
                <a:latin typeface="Segoe UI"/>
              </a:rPr>
              <a:t>Braquage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926080" y="3483864"/>
            <a:ext cx="1920240" cy="320040"/>
          </a:xfrm>
          <a:prstGeom prst="roundRect">
            <a:avLst>
              <a:gd name="adj" fmla="val 50000"/>
            </a:avLst>
          </a:prstGeom>
          <a:solidFill>
            <a:srgbClr val="F0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926080" y="3483864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4A8A"/>
                </a:solidFill>
                <a:latin typeface="Segoe UI"/>
              </a:rPr>
              <a:t>Coupeur de route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926080" y="3922776"/>
            <a:ext cx="1920240" cy="320040"/>
          </a:xfrm>
          <a:prstGeom prst="roundRect">
            <a:avLst>
              <a:gd name="adj" fmla="val 50000"/>
            </a:avLst>
          </a:prstGeom>
          <a:solidFill>
            <a:srgbClr val="F0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926080" y="3922776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4A8A"/>
                </a:solidFill>
                <a:latin typeface="Segoe UI"/>
              </a:rPr>
              <a:t>Menace terroriste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926080" y="4361688"/>
            <a:ext cx="1920240" cy="320040"/>
          </a:xfrm>
          <a:prstGeom prst="roundRect">
            <a:avLst>
              <a:gd name="adj" fmla="val 50000"/>
            </a:avLst>
          </a:prstGeom>
          <a:solidFill>
            <a:srgbClr val="F0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926080" y="436168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4A8A"/>
                </a:solidFill>
                <a:latin typeface="Segoe UI"/>
              </a:rPr>
              <a:t>Conflit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212080" y="1554480"/>
            <a:ext cx="2331720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212080" y="1554480"/>
            <a:ext cx="2331720" cy="457200"/>
          </a:xfrm>
          <a:prstGeom prst="rect">
            <a:avLst/>
          </a:prstGeom>
          <a:solidFill>
            <a:srgbClr val="CC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257800" y="162763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Segoe UI"/>
              </a:rPr>
              <a:t>🧡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94960" y="210312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C2340"/>
                </a:solidFill>
                <a:latin typeface="Segoe UI"/>
              </a:rPr>
              <a:t>Protection Civile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394960" y="2606040"/>
            <a:ext cx="1920240" cy="320040"/>
          </a:xfrm>
          <a:prstGeom prst="roundRect">
            <a:avLst>
              <a:gd name="adj" fmla="val 50000"/>
            </a:avLst>
          </a:prstGeom>
          <a:solidFill>
            <a:srgbClr val="F0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394960" y="260604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5500"/>
                </a:solidFill>
                <a:latin typeface="Segoe UI"/>
              </a:rPr>
              <a:t>Incendie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394960" y="3044952"/>
            <a:ext cx="1920240" cy="320040"/>
          </a:xfrm>
          <a:prstGeom prst="roundRect">
            <a:avLst>
              <a:gd name="adj" fmla="val 50000"/>
            </a:avLst>
          </a:prstGeom>
          <a:solidFill>
            <a:srgbClr val="F0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394960" y="3044952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5500"/>
                </a:solidFill>
                <a:latin typeface="Segoe UI"/>
              </a:rPr>
              <a:t>Inondation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394960" y="3483864"/>
            <a:ext cx="1920240" cy="320040"/>
          </a:xfrm>
          <a:prstGeom prst="roundRect">
            <a:avLst>
              <a:gd name="adj" fmla="val 50000"/>
            </a:avLst>
          </a:prstGeom>
          <a:solidFill>
            <a:srgbClr val="F0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394960" y="3483864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5500"/>
                </a:solidFill>
                <a:latin typeface="Segoe UI"/>
              </a:rPr>
              <a:t>Effondrement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394960" y="3922776"/>
            <a:ext cx="1920240" cy="320040"/>
          </a:xfrm>
          <a:prstGeom prst="roundRect">
            <a:avLst>
              <a:gd name="adj" fmla="val 50000"/>
            </a:avLst>
          </a:prstGeom>
          <a:solidFill>
            <a:srgbClr val="F0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394960" y="3922776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5500"/>
                </a:solidFill>
                <a:latin typeface="Segoe UI"/>
              </a:rPr>
              <a:t>Fuite de gaz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394960" y="4361688"/>
            <a:ext cx="1920240" cy="320040"/>
          </a:xfrm>
          <a:prstGeom prst="roundRect">
            <a:avLst>
              <a:gd name="adj" fmla="val 50000"/>
            </a:avLst>
          </a:prstGeom>
          <a:solidFill>
            <a:srgbClr val="F0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394960" y="436168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5500"/>
                </a:solidFill>
                <a:latin typeface="Segoe UI"/>
              </a:rPr>
              <a:t>Sauvetage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74320" y="585216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7B5EA7"/>
                </a:solidFill>
                <a:latin typeface="Segoe UI"/>
              </a:rPr>
              <a:t>📍 Position GPS capturée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103120" y="585216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7B5EA7"/>
                </a:solidFill>
                <a:latin typeface="Segoe UI"/>
              </a:rPr>
              <a:t>📸 Photos jointes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931920" y="585216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7B5EA7"/>
                </a:solidFill>
                <a:latin typeface="Segoe UI"/>
              </a:rPr>
              <a:t>📱 Suivi de mes alertes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760720" y="585216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7B5EA7"/>
                </a:solidFill>
                <a:latin typeface="Segoe UI"/>
              </a:rPr>
              <a:t>🔒 Anonymat préservé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271803" y="1371600"/>
            <a:ext cx="2110153" cy="4572000"/>
          </a:xfrm>
          <a:prstGeom prst="roundRect">
            <a:avLst>
              <a:gd name="adj" fmla="val 8000"/>
            </a:avLst>
          </a:prstGeom>
          <a:solidFill>
            <a:srgbClr val="22222A"/>
          </a:solidFill>
          <a:ln w="2540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5" name="Picture 54" descr="05-urgence-securitai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8412" y="1691640"/>
            <a:ext cx="1856935" cy="3931920"/>
          </a:xfrm>
          <a:prstGeom prst="rect">
            <a:avLst/>
          </a:prstGeom>
        </p:spPr>
      </p:pic>
      <p:sp>
        <p:nvSpPr>
          <p:cNvPr id="56" name="Rectangle 55"/>
          <p:cNvSpPr/>
          <p:nvPr/>
        </p:nvSpPr>
        <p:spPr>
          <a:xfrm>
            <a:off x="9010356" y="5779008"/>
            <a:ext cx="633046" cy="45720"/>
          </a:xfrm>
          <a:prstGeom prst="rect">
            <a:avLst/>
          </a:prstGeom>
          <a:solidFill>
            <a:srgbClr val="888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A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20116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CC71"/>
                </a:solidFill>
                <a:latin typeface="Segoe UI"/>
              </a:rPr>
              <a:t>FONCTIONNALITÉ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502920"/>
            <a:ext cx="7315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Gestion Transparente des Plaintes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55448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2340"/>
                </a:solidFill>
                <a:latin typeface="Segoe UI"/>
              </a:rPr>
              <a:t>👤  Côté Citoyen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01168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2340"/>
                </a:solidFill>
                <a:latin typeface="Segoe UI"/>
              </a:rPr>
              <a:t>✓  Plainte liée à un centre ou générale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42316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2340"/>
                </a:solidFill>
                <a:latin typeface="Segoe UI"/>
              </a:rPr>
              <a:t>✓  Sujets rapides : Accueil, Attente, Propreté...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83464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2340"/>
                </a:solidFill>
                <a:latin typeface="Segoe UI"/>
              </a:rPr>
              <a:t>✓  Description détaillée avec compteur de caractères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24612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2340"/>
                </a:solidFill>
                <a:latin typeface="Segoe UI"/>
              </a:rPr>
              <a:t>✓  Suivi : NOUVELLE → EN COURS → RÉSOLUE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365760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2340"/>
                </a:solidFill>
                <a:latin typeface="Segoe UI"/>
              </a:rPr>
              <a:t>✓  Feedback de satisfaction post-résolution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86200" y="1508760"/>
            <a:ext cx="27432" cy="4937760"/>
          </a:xfrm>
          <a:prstGeom prst="rect">
            <a:avLst/>
          </a:prstGeom>
          <a:solidFill>
            <a:srgbClr val="CCDD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023360" y="155448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2340"/>
                </a:solidFill>
                <a:latin typeface="Segoe UI"/>
              </a:rPr>
              <a:t>🏥  Côté Établissement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23360" y="201168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2340"/>
                </a:solidFill>
                <a:latin typeface="Segoe UI"/>
              </a:rPr>
              <a:t>✓  Tableau de bord des plaintes reçues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23360" y="242316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2340"/>
                </a:solidFill>
                <a:latin typeface="Segoe UI"/>
              </a:rPr>
              <a:t>✓  Indicateurs : note moyenne, taux de satisfaction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60" y="283464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2340"/>
                </a:solidFill>
                <a:latin typeface="Segoe UI"/>
              </a:rPr>
              <a:t>✓  Réponse officielle avec explication traçable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23360" y="324612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2340"/>
                </a:solidFill>
                <a:latin typeface="Segoe UI"/>
              </a:rPr>
              <a:t>✓  Statuts : NOUVELLE / EN COURS / RÉSOLUE / REJETÉE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23360" y="365760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2340"/>
                </a:solidFill>
                <a:latin typeface="Segoe UI"/>
              </a:rPr>
              <a:t>✓  Statistiques de satisfaction en temps réel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4320" y="598932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00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74320" y="598932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NOUVELLE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103120" y="598932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E862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103120" y="598932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EN COURS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931920" y="598932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931920" y="598932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RÉSOLUE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760720" y="598932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760720" y="598932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REJETÉE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71803" y="1371600"/>
            <a:ext cx="2110153" cy="4572000"/>
          </a:xfrm>
          <a:prstGeom prst="roundRect">
            <a:avLst>
              <a:gd name="adj" fmla="val 8000"/>
            </a:avLst>
          </a:prstGeom>
          <a:solidFill>
            <a:srgbClr val="22222A"/>
          </a:solidFill>
          <a:ln w="2540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29" descr="03-plain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8412" y="1691640"/>
            <a:ext cx="1856935" cy="3931920"/>
          </a:xfrm>
          <a:prstGeom prst="rect">
            <a:avLst/>
          </a:prstGeom>
        </p:spPr>
      </p:pic>
      <p:sp>
        <p:nvSpPr>
          <p:cNvPr id="31" name="Rectangle 30"/>
          <p:cNvSpPr/>
          <p:nvPr/>
        </p:nvSpPr>
        <p:spPr>
          <a:xfrm>
            <a:off x="9010356" y="5779008"/>
            <a:ext cx="633046" cy="45720"/>
          </a:xfrm>
          <a:prstGeom prst="rect">
            <a:avLst/>
          </a:prstGeom>
          <a:solidFill>
            <a:srgbClr val="888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62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2743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620A"/>
                </a:solidFill>
                <a:latin typeface="Segoe UI"/>
              </a:rPr>
              <a:t>ARCHITECTURE MULTI-RÔLES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Une app, sept profils utilisateur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554480"/>
            <a:ext cx="2743200" cy="1828800"/>
          </a:xfrm>
          <a:prstGeom prst="rect">
            <a:avLst/>
          </a:prstGeom>
          <a:solidFill>
            <a:srgbClr val="252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74320" y="1554480"/>
            <a:ext cx="2743200" cy="914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173736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Segoe UI"/>
              </a:rPr>
              <a:t>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4231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Citoyen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83464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BBCC"/>
                </a:solidFill>
                <a:latin typeface="Segoe UI"/>
              </a:rPr>
              <a:t>Consulte, note, signale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18688" y="1554480"/>
            <a:ext cx="2743200" cy="1828800"/>
          </a:xfrm>
          <a:prstGeom prst="rect">
            <a:avLst/>
          </a:prstGeom>
          <a:solidFill>
            <a:srgbClr val="252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218688" y="1554480"/>
            <a:ext cx="2743200" cy="91440"/>
          </a:xfrm>
          <a:prstGeom prst="rect">
            <a:avLst/>
          </a:prstGeom>
          <a:solidFill>
            <a:srgbClr val="E862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310128" y="173736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Segoe UI"/>
              </a:rPr>
              <a:t>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10128" y="24231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Chef Étab.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10128" y="283464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BBCC"/>
                </a:solidFill>
                <a:latin typeface="Segoe UI"/>
              </a:rPr>
              <a:t>Gère son centre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63056" y="1554480"/>
            <a:ext cx="2743200" cy="1828800"/>
          </a:xfrm>
          <a:prstGeom prst="rect">
            <a:avLst/>
          </a:prstGeom>
          <a:solidFill>
            <a:srgbClr val="252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163056" y="1554480"/>
            <a:ext cx="2743200" cy="91440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54496" y="173736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Segoe UI"/>
              </a:rPr>
              <a:t>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54496" y="24231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SAMU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54496" y="283464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BBCC"/>
                </a:solidFill>
                <a:latin typeface="Segoe UI"/>
              </a:rPr>
              <a:t>Gère les urgences méd.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07424" y="1554480"/>
            <a:ext cx="2743200" cy="1828800"/>
          </a:xfrm>
          <a:prstGeom prst="rect">
            <a:avLst/>
          </a:prstGeom>
          <a:solidFill>
            <a:srgbClr val="252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107424" y="1554480"/>
            <a:ext cx="2743200" cy="91440"/>
          </a:xfrm>
          <a:prstGeom prst="rect">
            <a:avLst/>
          </a:prstGeom>
          <a:solidFill>
            <a:srgbClr val="FF7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98864" y="173736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Segoe UI"/>
              </a:rPr>
              <a:t>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98864" y="24231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Sapeurs-Pompiers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98864" y="283464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BBCC"/>
                </a:solidFill>
                <a:latin typeface="Segoe UI"/>
              </a:rPr>
              <a:t>Gère incendies/accidents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3657600"/>
            <a:ext cx="2743200" cy="1828800"/>
          </a:xfrm>
          <a:prstGeom prst="rect">
            <a:avLst/>
          </a:prstGeom>
          <a:solidFill>
            <a:srgbClr val="252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274320" y="3657600"/>
            <a:ext cx="2743200" cy="91440"/>
          </a:xfrm>
          <a:prstGeom prst="rect">
            <a:avLst/>
          </a:prstGeom>
          <a:solidFill>
            <a:srgbClr val="7B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65760" y="384048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Segoe UI"/>
              </a:rPr>
              <a:t>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45262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Police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49377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BBCC"/>
                </a:solidFill>
                <a:latin typeface="Segoe UI"/>
              </a:rPr>
              <a:t>Gère incidents sécurité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18688" y="3657600"/>
            <a:ext cx="2743200" cy="1828800"/>
          </a:xfrm>
          <a:prstGeom prst="rect">
            <a:avLst/>
          </a:prstGeom>
          <a:solidFill>
            <a:srgbClr val="252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3218688" y="3657600"/>
            <a:ext cx="2743200" cy="91440"/>
          </a:xfrm>
          <a:prstGeom prst="rect">
            <a:avLst/>
          </a:prstGeom>
          <a:solidFill>
            <a:srgbClr val="33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310128" y="384048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Segoe UI"/>
              </a:rPr>
              <a:t>🪖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10128" y="45262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Gendarmerie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10128" y="49377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BBCC"/>
                </a:solidFill>
                <a:latin typeface="Segoe UI"/>
              </a:rPr>
              <a:t>Gère alertes terrain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63056" y="3657600"/>
            <a:ext cx="2743200" cy="1828800"/>
          </a:xfrm>
          <a:prstGeom prst="rect">
            <a:avLst/>
          </a:prstGeom>
          <a:solidFill>
            <a:srgbClr val="252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6163056" y="3657600"/>
            <a:ext cx="2743200" cy="9144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254496" y="384048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Segoe UI"/>
              </a:rPr>
              <a:t>🛡️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54496" y="45262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Protection Civile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54496" y="49377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BBCC"/>
                </a:solidFill>
                <a:latin typeface="Segoe UI"/>
              </a:rPr>
              <a:t>Gère catastrophes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703681" y="1444752"/>
            <a:ext cx="1941341" cy="42062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8630529" y="1371600"/>
            <a:ext cx="1941341" cy="4206240"/>
          </a:xfrm>
          <a:prstGeom prst="roundRect">
            <a:avLst>
              <a:gd name="adj" fmla="val 8000"/>
            </a:avLst>
          </a:prstGeom>
          <a:solidFill>
            <a:srgbClr val="22222A"/>
          </a:solidFill>
          <a:ln w="2540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3" name="Picture 42" descr="02-men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47009" y="1666036"/>
            <a:ext cx="1708380" cy="3617366"/>
          </a:xfrm>
          <a:prstGeom prst="rect">
            <a:avLst/>
          </a:prstGeom>
        </p:spPr>
      </p:pic>
      <p:sp>
        <p:nvSpPr>
          <p:cNvPr id="44" name="Rectangle 43"/>
          <p:cNvSpPr/>
          <p:nvPr/>
        </p:nvSpPr>
        <p:spPr>
          <a:xfrm>
            <a:off x="9309998" y="5413248"/>
            <a:ext cx="582402" cy="45720"/>
          </a:xfrm>
          <a:prstGeom prst="rect">
            <a:avLst/>
          </a:prstGeom>
          <a:solidFill>
            <a:srgbClr val="888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8B4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62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20116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8620A"/>
                </a:solidFill>
                <a:latin typeface="Segoe UI"/>
              </a:rPr>
              <a:t>TABLEAU DE BORD ÉTABLISSEMENT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502920"/>
            <a:ext cx="7315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Piloter son établissement en temps réel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554480"/>
            <a:ext cx="6949440" cy="896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1554480"/>
            <a:ext cx="73152" cy="896112"/>
          </a:xfrm>
          <a:prstGeom prst="rect">
            <a:avLst/>
          </a:prstGeom>
          <a:solidFill>
            <a:srgbClr val="E862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62763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C2340"/>
                </a:solidFill>
                <a:latin typeface="Segoe UI"/>
              </a:rPr>
              <a:t>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627632"/>
            <a:ext cx="5943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2340"/>
                </a:solidFill>
                <a:latin typeface="Segoe UI"/>
              </a:rPr>
              <a:t>Créer &amp; gérer son centre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1975104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E99B0"/>
                </a:solidFill>
                <a:latin typeface="Segoe UI"/>
              </a:rPr>
              <a:t>Saisie complète : nom, adresse, region, district, niveau, type (CHU, Clinique, ESPC…), plateau technique et services.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560320"/>
            <a:ext cx="6949440" cy="896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74320" y="2560320"/>
            <a:ext cx="73152" cy="896112"/>
          </a:xfrm>
          <a:prstGeom prst="rect">
            <a:avLst/>
          </a:prstGeom>
          <a:solidFill>
            <a:srgbClr val="E862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263347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C2340"/>
                </a:solidFill>
                <a:latin typeface="Segoe UI"/>
              </a:rPr>
              <a:t>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633472"/>
            <a:ext cx="5943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2340"/>
                </a:solidFill>
                <a:latin typeface="Segoe UI"/>
              </a:rPr>
              <a:t>Coordonnées GPS précises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2980944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E99B0"/>
                </a:solidFill>
                <a:latin typeface="Segoe UI"/>
              </a:rPr>
              <a:t>Saisie manuelle ou capture automatique depuis l'appareil. Indispensable pour apparaître dans la carte des utilisateurs.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566160"/>
            <a:ext cx="6949440" cy="896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74320" y="3566160"/>
            <a:ext cx="73152" cy="896112"/>
          </a:xfrm>
          <a:prstGeom prst="rect">
            <a:avLst/>
          </a:prstGeom>
          <a:solidFill>
            <a:srgbClr val="E862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" y="363931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C2340"/>
                </a:solidFill>
                <a:latin typeface="Segoe UI"/>
              </a:rPr>
              <a:t>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3639312"/>
            <a:ext cx="5943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2340"/>
                </a:solidFill>
                <a:latin typeface="Segoe UI"/>
              </a:rPr>
              <a:t>Statistiques en direct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3986784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8E99B0"/>
                </a:solidFill>
                <a:latin typeface="Segoe UI"/>
              </a:rPr>
              <a:t>Note </a:t>
            </a:r>
            <a:r>
              <a:rPr sz="1000" b="0" i="0" dirty="0" err="1">
                <a:solidFill>
                  <a:srgbClr val="8E99B0"/>
                </a:solidFill>
                <a:latin typeface="Segoe UI"/>
              </a:rPr>
              <a:t>moyenne</a:t>
            </a:r>
            <a:r>
              <a:rPr sz="1000" b="0" i="0" dirty="0">
                <a:solidFill>
                  <a:srgbClr val="8E99B0"/>
                </a:solidFill>
                <a:latin typeface="Segoe UI"/>
              </a:rPr>
              <a:t> ★, </a:t>
            </a:r>
            <a:r>
              <a:rPr sz="1000" b="0" i="0" dirty="0" err="1">
                <a:solidFill>
                  <a:srgbClr val="8E99B0"/>
                </a:solidFill>
                <a:latin typeface="Segoe UI"/>
              </a:rPr>
              <a:t>taux</a:t>
            </a:r>
            <a:r>
              <a:rPr sz="1000" b="0" i="0" dirty="0">
                <a:solidFill>
                  <a:srgbClr val="8E99B0"/>
                </a:solidFill>
                <a:latin typeface="Segoe UI"/>
              </a:rPr>
              <a:t> de satisfaction %, </a:t>
            </a:r>
            <a:r>
              <a:rPr sz="1000" b="0" i="0" dirty="0" err="1">
                <a:solidFill>
                  <a:srgbClr val="8E99B0"/>
                </a:solidFill>
                <a:latin typeface="Segoe UI"/>
              </a:rPr>
              <a:t>nombre</a:t>
            </a:r>
            <a:r>
              <a:rPr sz="1000" b="0" i="0" dirty="0">
                <a:solidFill>
                  <a:srgbClr val="8E99B0"/>
                </a:solidFill>
                <a:latin typeface="Segoe UI"/>
              </a:rPr>
              <a:t> total de </a:t>
            </a:r>
            <a:r>
              <a:rPr sz="1000" b="0" i="0" dirty="0" err="1">
                <a:solidFill>
                  <a:srgbClr val="8E99B0"/>
                </a:solidFill>
                <a:latin typeface="Segoe UI"/>
              </a:rPr>
              <a:t>plaintes</a:t>
            </a:r>
            <a:r>
              <a:rPr sz="1000" b="0" i="0" dirty="0">
                <a:solidFill>
                  <a:srgbClr val="8E99B0"/>
                </a:solidFill>
                <a:latin typeface="Segoe UI"/>
              </a:rPr>
              <a:t> reçues</a:t>
            </a:r>
            <a:r>
              <a:rPr lang="fr-FR" sz="1000" b="0" i="0" dirty="0">
                <a:solidFill>
                  <a:srgbClr val="8E99B0"/>
                </a:solidFill>
                <a:latin typeface="Segoe UI"/>
              </a:rPr>
              <a:t>-</a:t>
            </a:r>
            <a:r>
              <a:rPr sz="1000" b="0" i="0" dirty="0" err="1">
                <a:solidFill>
                  <a:srgbClr val="8E99B0"/>
                </a:solidFill>
                <a:latin typeface="Segoe UI"/>
              </a:rPr>
              <a:t>actualisé</a:t>
            </a:r>
            <a:r>
              <a:rPr sz="1000" b="0" i="0" dirty="0">
                <a:solidFill>
                  <a:srgbClr val="8E99B0"/>
                </a:solidFill>
                <a:latin typeface="Segoe UI"/>
              </a:rPr>
              <a:t> </a:t>
            </a:r>
            <a:r>
              <a:rPr sz="1000" b="0" i="0" dirty="0" err="1">
                <a:solidFill>
                  <a:srgbClr val="8E99B0"/>
                </a:solidFill>
                <a:latin typeface="Segoe UI"/>
              </a:rPr>
              <a:t>toutes</a:t>
            </a:r>
            <a:r>
              <a:rPr sz="1000" b="0" i="0" dirty="0">
                <a:solidFill>
                  <a:srgbClr val="8E99B0"/>
                </a:solidFill>
                <a:latin typeface="Segoe UI"/>
              </a:rPr>
              <a:t> les 30 minutes.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4572000"/>
            <a:ext cx="6949440" cy="896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74320" y="4572000"/>
            <a:ext cx="73152" cy="896112"/>
          </a:xfrm>
          <a:prstGeom prst="rect">
            <a:avLst/>
          </a:prstGeom>
          <a:solidFill>
            <a:srgbClr val="E862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7200" y="464515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C2340"/>
                </a:solidFill>
                <a:latin typeface="Segoe UI"/>
              </a:rPr>
              <a:t>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4645152"/>
            <a:ext cx="5943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2340"/>
                </a:solidFill>
                <a:latin typeface="Segoe UI"/>
              </a:rPr>
              <a:t>Répondre aux plaintes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4992624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E99B0"/>
                </a:solidFill>
                <a:latin typeface="Segoe UI"/>
              </a:rPr>
              <a:t>Consultez chaque plainte et apportez une explication officielle tracée et horodatée.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5577840"/>
            <a:ext cx="6949440" cy="896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274320" y="5577840"/>
            <a:ext cx="73152" cy="896112"/>
          </a:xfrm>
          <a:prstGeom prst="rect">
            <a:avLst/>
          </a:prstGeom>
          <a:solidFill>
            <a:srgbClr val="E862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7200" y="565099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C2340"/>
                </a:solidFill>
                <a:latin typeface="Segoe UI"/>
              </a:rPr>
              <a:t>✅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5650992"/>
            <a:ext cx="5943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2340"/>
                </a:solidFill>
                <a:latin typeface="Segoe UI"/>
              </a:rPr>
              <a:t>Processus d'approbation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5998464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E99B0"/>
                </a:solidFill>
                <a:latin typeface="Segoe UI"/>
              </a:rPr>
              <a:t>Statut visible : EN ATTENTE → APPROUVÉ ou REJETÉ par l'autorité régulatrice.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344955" y="1444752"/>
            <a:ext cx="2110153" cy="4572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8271803" y="1371600"/>
            <a:ext cx="2110153" cy="4572000"/>
          </a:xfrm>
          <a:prstGeom prst="roundRect">
            <a:avLst>
              <a:gd name="adj" fmla="val 8000"/>
            </a:avLst>
          </a:prstGeom>
          <a:solidFill>
            <a:srgbClr val="22222A"/>
          </a:solidFill>
          <a:ln w="2540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4" name="Picture 33" descr="09-chef-fill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8412" y="1691640"/>
            <a:ext cx="1856935" cy="3931920"/>
          </a:xfrm>
          <a:prstGeom prst="rect">
            <a:avLst/>
          </a:prstGeom>
        </p:spPr>
      </p:pic>
      <p:sp>
        <p:nvSpPr>
          <p:cNvPr id="35" name="Rectangle 34"/>
          <p:cNvSpPr/>
          <p:nvPr/>
        </p:nvSpPr>
        <p:spPr>
          <a:xfrm>
            <a:off x="9010356" y="5779008"/>
            <a:ext cx="633046" cy="45720"/>
          </a:xfrm>
          <a:prstGeom prst="rect">
            <a:avLst/>
          </a:prstGeom>
          <a:solidFill>
            <a:srgbClr val="888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20116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9688"/>
                </a:solidFill>
                <a:latin typeface="Segoe UI"/>
              </a:rPr>
              <a:t>OPPORTUNITÉ DE MARCHÉ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50292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Un marché massif et sous-digitalisé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554480"/>
            <a:ext cx="274320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1554480"/>
            <a:ext cx="2743200" cy="10972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20" y="1874519"/>
            <a:ext cx="2743200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CI" sz="3800" b="1" i="0" dirty="0">
                <a:solidFill>
                  <a:srgbClr val="009688"/>
                </a:solidFill>
                <a:latin typeface="Segoe UI"/>
              </a:rPr>
              <a:t>29</a:t>
            </a:r>
            <a:r>
              <a:rPr sz="3800" b="1" i="0" dirty="0">
                <a:solidFill>
                  <a:srgbClr val="009688"/>
                </a:solidFill>
                <a:latin typeface="Segoe UI"/>
              </a:rPr>
              <a:t> Md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651760"/>
            <a:ext cx="27432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dirty="0">
                <a:solidFill>
                  <a:srgbClr val="8E99B0"/>
                </a:solidFill>
                <a:latin typeface="Segoe UI"/>
              </a:rPr>
              <a:t>Population </a:t>
            </a:r>
            <a:r>
              <a:rPr sz="1100" b="0" i="0" dirty="0" err="1">
                <a:solidFill>
                  <a:srgbClr val="8E99B0"/>
                </a:solidFill>
                <a:latin typeface="Segoe UI"/>
              </a:rPr>
              <a:t>ciblée</a:t>
            </a:r>
            <a:r>
              <a:rPr sz="1100" b="0" i="0" dirty="0">
                <a:solidFill>
                  <a:srgbClr val="8E99B0"/>
                </a:solidFill>
                <a:latin typeface="Segoe UI"/>
              </a:rPr>
              <a:t>
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18688" y="1554480"/>
            <a:ext cx="274320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218688" y="1554480"/>
            <a:ext cx="2743200" cy="109728"/>
          </a:xfrm>
          <a:prstGeom prst="rect">
            <a:avLst/>
          </a:prstGeom>
          <a:solidFill>
            <a:srgbClr val="E862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218688" y="1874519"/>
            <a:ext cx="2743200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CI" sz="3800" b="1" dirty="0">
                <a:solidFill>
                  <a:srgbClr val="E8620A"/>
                </a:solidFill>
                <a:latin typeface="Segoe UI"/>
              </a:rPr>
              <a:t>130</a:t>
            </a:r>
            <a:r>
              <a:rPr sz="3800" b="1" i="0" dirty="0">
                <a:solidFill>
                  <a:srgbClr val="E8620A"/>
                </a:solidFill>
                <a:latin typeface="Segoe UI"/>
              </a:rPr>
              <a:t>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18688" y="265176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E99B0"/>
                </a:solidFill>
                <a:latin typeface="Segoe UI"/>
              </a:rPr>
              <a:t>Pénétration smartphone
en 2025 (GSMA)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63056" y="1554480"/>
            <a:ext cx="274320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163056" y="1554480"/>
            <a:ext cx="2743200" cy="10972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163056" y="1874519"/>
            <a:ext cx="2743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2ECC71"/>
                </a:solidFill>
                <a:latin typeface="Segoe UI"/>
              </a:rPr>
              <a:t>3 124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63056" y="265176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E99B0"/>
                </a:solidFill>
                <a:latin typeface="Segoe UI"/>
              </a:rPr>
              <a:t>Centres déjà
répertoriés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384048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C2340"/>
                </a:solidFill>
                <a:latin typeface="Segoe UI"/>
              </a:rPr>
              <a:t>Cibles prioritaires de déploiement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4389120"/>
            <a:ext cx="557784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65760" y="44805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C2340"/>
                </a:solidFill>
                <a:latin typeface="Segoe UI"/>
              </a:rPr>
              <a:t>🏛️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4443984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C2340"/>
                </a:solidFill>
                <a:latin typeface="Segoe UI"/>
              </a:rPr>
              <a:t>Gouvernements &amp; Ministères de la Santé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4773168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E99B0"/>
                </a:solidFill>
                <a:latin typeface="Segoe UI"/>
              </a:rPr>
              <a:t>Digitaliser le répertoire national des établissements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5239512"/>
            <a:ext cx="557784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65760" y="533095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C2340"/>
                </a:solidFill>
                <a:latin typeface="Segoe UI"/>
              </a:rPr>
              <a:t>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" y="5294376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C2340"/>
                </a:solidFill>
                <a:latin typeface="Segoe UI"/>
              </a:rPr>
              <a:t>Établissements Privés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" y="5623560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E99B0"/>
                </a:solidFill>
                <a:latin typeface="Segoe UI"/>
              </a:rPr>
              <a:t>Visibilité, réputation et gestion des retours patients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6089904"/>
            <a:ext cx="557784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65760" y="6181344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C2340"/>
                </a:solidFill>
                <a:latin typeface="Segoe UI"/>
              </a:rPr>
              <a:t>🚑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120" y="614476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C2340"/>
                </a:solidFill>
                <a:latin typeface="Segoe UI"/>
              </a:rPr>
              <a:t>Services de Secours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0120" y="6473952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E99B0"/>
                </a:solidFill>
                <a:latin typeface="Segoe UI"/>
              </a:rPr>
              <a:t>Coordination des interventions d'urgence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6940296"/>
            <a:ext cx="557784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65760" y="703173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C2340"/>
                </a:solidFill>
                <a:latin typeface="Segoe UI"/>
              </a:rPr>
              <a:t>📱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" y="699516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C2340"/>
                </a:solidFill>
                <a:latin typeface="Segoe UI"/>
              </a:rPr>
              <a:t>Grand Public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0120" y="7324344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E99B0"/>
                </a:solidFill>
                <a:latin typeface="Segoe UI"/>
              </a:rPr>
              <a:t>Application gratuite, accès sans compte pour l'essentiel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35040" y="3840480"/>
            <a:ext cx="5943600" cy="2834640"/>
          </a:xfrm>
          <a:prstGeom prst="rect">
            <a:avLst/>
          </a:prstGeom>
          <a:solidFill>
            <a:srgbClr val="EE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035040" y="3840480"/>
            <a:ext cx="59436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 dirty="0">
                <a:solidFill>
                  <a:srgbClr val="1C2340"/>
                </a:solidFill>
                <a:latin typeface="Segoe UI"/>
              </a:rPr>
              <a:t>🌍
Côte d'Ivoire · </a:t>
            </a:r>
            <a:r>
              <a:rPr sz="1300" b="0" i="0" dirty="0" err="1">
                <a:solidFill>
                  <a:srgbClr val="1C2340"/>
                </a:solidFill>
                <a:latin typeface="Segoe UI"/>
              </a:rPr>
              <a:t>Sénégal</a:t>
            </a:r>
            <a:r>
              <a:rPr sz="1300" b="0" i="0" dirty="0">
                <a:solidFill>
                  <a:srgbClr val="1C2340"/>
                </a:solidFill>
                <a:latin typeface="Segoe UI"/>
              </a:rPr>
              <a:t> · Mali
Burkina Faso · Cameroun · </a:t>
            </a:r>
            <a:r>
              <a:rPr sz="1300" b="0" i="0" dirty="0" err="1">
                <a:solidFill>
                  <a:srgbClr val="1C2340"/>
                </a:solidFill>
                <a:latin typeface="Segoe UI"/>
              </a:rPr>
              <a:t>Bénin</a:t>
            </a:r>
            <a:r>
              <a:rPr sz="1300" b="0" i="0" dirty="0">
                <a:solidFill>
                  <a:srgbClr val="1C2340"/>
                </a:solidFill>
                <a:latin typeface="Segoe UI"/>
              </a:rPr>
              <a:t>
→ Extension </a:t>
            </a:r>
            <a:r>
              <a:rPr sz="1300" b="0" i="0" dirty="0" err="1">
                <a:solidFill>
                  <a:srgbClr val="1C2340"/>
                </a:solidFill>
                <a:latin typeface="Segoe UI"/>
              </a:rPr>
              <a:t>régionale</a:t>
            </a:r>
            <a:r>
              <a:rPr sz="1300" b="0" i="0" dirty="0">
                <a:solidFill>
                  <a:srgbClr val="1C2340"/>
                </a:solidFill>
                <a:latin typeface="Segoe UI"/>
              </a:rPr>
              <a:t> </a:t>
            </a:r>
            <a:r>
              <a:rPr sz="1300" b="0" i="0" dirty="0" err="1">
                <a:solidFill>
                  <a:srgbClr val="1C2340"/>
                </a:solidFill>
                <a:latin typeface="Segoe UI"/>
              </a:rPr>
              <a:t>planifiée</a:t>
            </a:r>
            <a:endParaRPr sz="1300" b="0" i="0" dirty="0">
              <a:solidFill>
                <a:srgbClr val="1C2340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62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2743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620A"/>
                </a:solidFill>
                <a:latin typeface="Segoe UI"/>
              </a:rPr>
              <a:t>MODÈLE ÉCONOMIQUE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Plusieurs leviers de monétisation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17320"/>
            <a:ext cx="2743200" cy="3657600"/>
          </a:xfrm>
          <a:prstGeom prst="rect">
            <a:avLst/>
          </a:prstGeom>
          <a:solidFill>
            <a:srgbClr val="1E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74320" y="1417320"/>
            <a:ext cx="2743200" cy="10972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" y="1691640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Segoe UI"/>
              </a:rPr>
              <a:t>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3774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Freemium Citoyen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88036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BCCDD"/>
                </a:solidFill>
                <a:latin typeface="Segoe UI"/>
              </a:rPr>
              <a:t>Application gratuite pour les utilisateurs finaux.
Prime pour fonctionnalités avancées (historique étendu, alertes push premium).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18688" y="1417320"/>
            <a:ext cx="2743200" cy="3657600"/>
          </a:xfrm>
          <a:prstGeom prst="rect">
            <a:avLst/>
          </a:prstGeom>
          <a:solidFill>
            <a:srgbClr val="1E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218688" y="1417320"/>
            <a:ext cx="2743200" cy="109728"/>
          </a:xfrm>
          <a:prstGeom prst="rect">
            <a:avLst/>
          </a:prstGeom>
          <a:solidFill>
            <a:srgbClr val="E862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355848" y="1691640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Segoe UI"/>
              </a:rPr>
              <a:t>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55848" y="23774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SaaS Établissement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55848" y="288036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BCCDD"/>
                </a:solidFill>
                <a:latin typeface="Segoe UI"/>
              </a:rPr>
              <a:t>Abonnement mensuel pour les chefs d'établissement :
visibilité boostée, statistiques détaillées, support prioritaire.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63056" y="1417320"/>
            <a:ext cx="2743200" cy="3657600"/>
          </a:xfrm>
          <a:prstGeom prst="rect">
            <a:avLst/>
          </a:prstGeom>
          <a:solidFill>
            <a:srgbClr val="1E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163056" y="1417320"/>
            <a:ext cx="2743200" cy="109728"/>
          </a:xfrm>
          <a:prstGeom prst="rect">
            <a:avLst/>
          </a:prstGeom>
          <a:solidFill>
            <a:srgbClr val="7B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00216" y="1691640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Segoe UI"/>
              </a:rPr>
              <a:t>🏛️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216" y="23774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Licences Gouvernementales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0216" y="288036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BCCDD"/>
                </a:solidFill>
                <a:latin typeface="Segoe UI"/>
              </a:rPr>
              <a:t>Contrats B2G : Ministères de la Santé, mairies, districts.
Base de données nationale des établissements, tableaux de bord régionaux.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07424" y="1417320"/>
            <a:ext cx="2743200" cy="3657600"/>
          </a:xfrm>
          <a:prstGeom prst="rect">
            <a:avLst/>
          </a:prstGeom>
          <a:solidFill>
            <a:srgbClr val="1E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107424" y="1417320"/>
            <a:ext cx="2743200" cy="10972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244584" y="1691640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Segoe UI"/>
              </a:rPr>
              <a:t>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44584" y="23774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Partenariats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44584" y="288036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BCCDD"/>
                </a:solidFill>
                <a:latin typeface="Segoe UI"/>
              </a:rPr>
              <a:t>Compagnies d'assurance santé, ONG, agences de développement.
Intégration API pour systèmes existants.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62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20116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8620A"/>
                </a:solidFill>
                <a:latin typeface="Segoe UI"/>
              </a:rPr>
              <a:t>POURQUOI INVESTIR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50292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5 raisons de rejoindre l'aventure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554480"/>
            <a:ext cx="548640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1554480"/>
            <a:ext cx="73152" cy="1188720"/>
          </a:xfrm>
          <a:prstGeom prst="rect">
            <a:avLst/>
          </a:prstGeom>
          <a:solidFill>
            <a:srgbClr val="E862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6459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1C2340"/>
                </a:solidFill>
                <a:latin typeface="Segoe UI"/>
              </a:rPr>
              <a:t>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1645920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2340"/>
                </a:solidFill>
                <a:latin typeface="Segoe UI"/>
              </a:rPr>
              <a:t>Produit déjà fonctionnel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011680"/>
            <a:ext cx="43891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8E99B0"/>
                </a:solidFill>
                <a:latin typeface="Segoe UI"/>
              </a:rPr>
              <a:t>MVP </a:t>
            </a:r>
            <a:r>
              <a:rPr sz="1000" b="0" i="0" dirty="0" err="1">
                <a:solidFill>
                  <a:srgbClr val="8E99B0"/>
                </a:solidFill>
                <a:latin typeface="Segoe UI"/>
              </a:rPr>
              <a:t>en</a:t>
            </a:r>
            <a:r>
              <a:rPr sz="1000" b="0" i="0" dirty="0">
                <a:solidFill>
                  <a:srgbClr val="8E99B0"/>
                </a:solidFill>
                <a:latin typeface="Segoe UI"/>
              </a:rPr>
              <a:t> production avec backend </a:t>
            </a:r>
            <a:r>
              <a:rPr sz="1000" b="0" i="0" dirty="0" err="1">
                <a:solidFill>
                  <a:srgbClr val="8E99B0"/>
                </a:solidFill>
                <a:latin typeface="Segoe UI"/>
              </a:rPr>
              <a:t>réel</a:t>
            </a:r>
            <a:r>
              <a:rPr sz="1000" b="0" i="0" dirty="0">
                <a:solidFill>
                  <a:srgbClr val="8E99B0"/>
                </a:solidFill>
                <a:latin typeface="Segoe UI"/>
              </a:rPr>
              <a:t>, 3 124 </a:t>
            </a:r>
            <a:r>
              <a:rPr sz="1000" b="0" i="0" dirty="0" err="1">
                <a:solidFill>
                  <a:srgbClr val="8E99B0"/>
                </a:solidFill>
                <a:latin typeface="Segoe UI"/>
              </a:rPr>
              <a:t>centres</a:t>
            </a:r>
            <a:r>
              <a:rPr sz="1000" b="0" i="0" dirty="0">
                <a:solidFill>
                  <a:srgbClr val="8E99B0"/>
                </a:solidFill>
                <a:latin typeface="Segoe UI"/>
              </a:rPr>
              <a:t>, 6 modules </a:t>
            </a:r>
            <a:r>
              <a:rPr sz="1000" b="0" i="0" dirty="0" err="1">
                <a:solidFill>
                  <a:srgbClr val="8E99B0"/>
                </a:solidFill>
                <a:latin typeface="Segoe UI"/>
              </a:rPr>
              <a:t>actifs</a:t>
            </a:r>
            <a:r>
              <a:rPr sz="1000" b="0" i="0" dirty="0">
                <a:solidFill>
                  <a:srgbClr val="8E99B0"/>
                </a:solidFill>
                <a:latin typeface="Segoe UI"/>
              </a:rPr>
              <a:t>. Pas un concept </a:t>
            </a:r>
            <a:r>
              <a:rPr lang="fr-CI" sz="1000" b="0" i="0" dirty="0">
                <a:solidFill>
                  <a:srgbClr val="8E99B0"/>
                </a:solidFill>
                <a:latin typeface="Segoe UI"/>
              </a:rPr>
              <a:t>-</a:t>
            </a:r>
            <a:r>
              <a:rPr sz="1000" b="0" i="0" dirty="0">
                <a:solidFill>
                  <a:srgbClr val="8E99B0"/>
                </a:solidFill>
                <a:latin typeface="Segoe UI"/>
              </a:rPr>
              <a:t> </a:t>
            </a:r>
            <a:r>
              <a:rPr sz="1000" b="0" i="0" dirty="0" err="1">
                <a:solidFill>
                  <a:srgbClr val="8E99B0"/>
                </a:solidFill>
                <a:latin typeface="Segoe UI"/>
              </a:rPr>
              <a:t>une</a:t>
            </a:r>
            <a:r>
              <a:rPr sz="1000" b="0" i="0" dirty="0">
                <a:solidFill>
                  <a:srgbClr val="8E99B0"/>
                </a:solidFill>
                <a:latin typeface="Segoe UI"/>
              </a:rPr>
              <a:t> </a:t>
            </a:r>
            <a:r>
              <a:rPr sz="1000" b="0" i="0" dirty="0" err="1">
                <a:solidFill>
                  <a:srgbClr val="8E99B0"/>
                </a:solidFill>
                <a:latin typeface="Segoe UI"/>
              </a:rPr>
              <a:t>réalité</a:t>
            </a:r>
            <a:r>
              <a:rPr sz="1000" b="0" i="0" dirty="0">
                <a:solidFill>
                  <a:srgbClr val="8E99B0"/>
                </a:solidFill>
                <a:latin typeface="Segoe UI"/>
              </a:rPr>
              <a:t> testable </a:t>
            </a:r>
            <a:r>
              <a:rPr sz="1000" b="0" i="0" dirty="0" err="1">
                <a:solidFill>
                  <a:srgbClr val="8E99B0"/>
                </a:solidFill>
                <a:latin typeface="Segoe UI"/>
              </a:rPr>
              <a:t>dès</a:t>
            </a:r>
            <a:r>
              <a:rPr sz="1000" b="0" i="0" dirty="0">
                <a:solidFill>
                  <a:srgbClr val="8E99B0"/>
                </a:solidFill>
                <a:latin typeface="Segoe UI"/>
              </a:rPr>
              <a:t> </a:t>
            </a:r>
            <a:r>
              <a:rPr sz="1000" b="0" i="0" dirty="0" err="1">
                <a:solidFill>
                  <a:srgbClr val="8E99B0"/>
                </a:solidFill>
                <a:latin typeface="Segoe UI"/>
              </a:rPr>
              <a:t>aujourd'hui</a:t>
            </a:r>
            <a:r>
              <a:rPr sz="1000" b="0" i="0" dirty="0">
                <a:solidFill>
                  <a:srgbClr val="8E99B0"/>
                </a:solidFill>
                <a:latin typeface="Segoe UI"/>
              </a:rPr>
              <a:t>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1554480"/>
            <a:ext cx="548640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035040" y="1554480"/>
            <a:ext cx="73152" cy="1188720"/>
          </a:xfrm>
          <a:prstGeom prst="rect">
            <a:avLst/>
          </a:prstGeom>
          <a:solidFill>
            <a:srgbClr val="E862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17920" y="16459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1C2340"/>
                </a:solidFill>
                <a:latin typeface="Segoe UI"/>
              </a:rPr>
              <a:t>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3720" y="1645920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2340"/>
                </a:solidFill>
                <a:latin typeface="Segoe UI"/>
              </a:rPr>
              <a:t>Marché sous-digitalisé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2011680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E99B0"/>
                </a:solidFill>
                <a:latin typeface="Segoe UI"/>
              </a:rPr>
              <a:t>L'Afrique subsaharienne a besoin de solutions locales, adaptées au contexte réseau, au multilinguisme et aux usages mobiles-first.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880360"/>
            <a:ext cx="548640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74320" y="2880360"/>
            <a:ext cx="73152" cy="1188720"/>
          </a:xfrm>
          <a:prstGeom prst="rect">
            <a:avLst/>
          </a:prstGeom>
          <a:solidFill>
            <a:srgbClr val="E862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" y="29718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1C2340"/>
                </a:solidFill>
                <a:latin typeface="Segoe UI"/>
              </a:rPr>
              <a:t>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2971800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2340"/>
                </a:solidFill>
                <a:latin typeface="Segoe UI"/>
              </a:rPr>
              <a:t>Barrières à l'entrée solides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3337560"/>
            <a:ext cx="43891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 err="1">
                <a:solidFill>
                  <a:srgbClr val="8E99B0"/>
                </a:solidFill>
                <a:latin typeface="Segoe UI"/>
              </a:rPr>
              <a:t>Données</a:t>
            </a:r>
            <a:r>
              <a:rPr sz="1000" b="0" i="0" dirty="0">
                <a:solidFill>
                  <a:srgbClr val="8E99B0"/>
                </a:solidFill>
                <a:latin typeface="Segoe UI"/>
              </a:rPr>
              <a:t> </a:t>
            </a:r>
            <a:r>
              <a:rPr sz="1000" b="0" i="0" dirty="0" err="1">
                <a:solidFill>
                  <a:srgbClr val="8E99B0"/>
                </a:solidFill>
                <a:latin typeface="Segoe UI"/>
              </a:rPr>
              <a:t>géolocalisées</a:t>
            </a:r>
            <a:r>
              <a:rPr sz="1000" b="0" i="0" dirty="0">
                <a:solidFill>
                  <a:srgbClr val="8E99B0"/>
                </a:solidFill>
                <a:latin typeface="Segoe UI"/>
              </a:rPr>
              <a:t> propriétaires, </a:t>
            </a:r>
            <a:r>
              <a:rPr sz="1000" b="0" i="0" dirty="0" err="1">
                <a:solidFill>
                  <a:srgbClr val="8E99B0"/>
                </a:solidFill>
                <a:latin typeface="Segoe UI"/>
              </a:rPr>
              <a:t>réseau</a:t>
            </a:r>
            <a:r>
              <a:rPr sz="1000" b="0" i="0" dirty="0">
                <a:solidFill>
                  <a:srgbClr val="8E99B0"/>
                </a:solidFill>
                <a:latin typeface="Segoe UI"/>
              </a:rPr>
              <a:t> de </a:t>
            </a:r>
            <a:r>
              <a:rPr sz="1000" b="0" i="0" dirty="0" err="1">
                <a:solidFill>
                  <a:srgbClr val="8E99B0"/>
                </a:solidFill>
                <a:latin typeface="Segoe UI"/>
              </a:rPr>
              <a:t>centres</a:t>
            </a:r>
            <a:r>
              <a:rPr sz="1000" b="0" i="0" dirty="0">
                <a:solidFill>
                  <a:srgbClr val="8E99B0"/>
                </a:solidFill>
                <a:latin typeface="Segoe UI"/>
              </a:rPr>
              <a:t> </a:t>
            </a:r>
            <a:r>
              <a:rPr sz="1000" b="0" i="0" dirty="0" err="1">
                <a:solidFill>
                  <a:srgbClr val="8E99B0"/>
                </a:solidFill>
                <a:latin typeface="Segoe UI"/>
              </a:rPr>
              <a:t>référencés</a:t>
            </a:r>
            <a:r>
              <a:rPr sz="1000" b="0" i="0" dirty="0">
                <a:solidFill>
                  <a:srgbClr val="8E99B0"/>
                </a:solidFill>
                <a:latin typeface="Segoe UI"/>
              </a:rPr>
              <a:t>, </a:t>
            </a:r>
            <a:r>
              <a:rPr sz="1000" b="0" i="0" dirty="0" err="1">
                <a:solidFill>
                  <a:srgbClr val="8E99B0"/>
                </a:solidFill>
                <a:latin typeface="Segoe UI"/>
              </a:rPr>
              <a:t>intégrations</a:t>
            </a:r>
            <a:r>
              <a:rPr sz="1000" b="0" i="0" dirty="0">
                <a:solidFill>
                  <a:srgbClr val="8E99B0"/>
                </a:solidFill>
                <a:latin typeface="Segoe UI"/>
              </a:rPr>
              <a:t> services de secours</a:t>
            </a:r>
            <a:r>
              <a:rPr lang="fr-FR" sz="1000" b="0" i="0" dirty="0">
                <a:solidFill>
                  <a:srgbClr val="8E99B0"/>
                </a:solidFill>
                <a:latin typeface="Segoe UI"/>
              </a:rPr>
              <a:t>-</a:t>
            </a:r>
            <a:r>
              <a:rPr sz="1000" b="0" i="0" dirty="0">
                <a:solidFill>
                  <a:srgbClr val="8E99B0"/>
                </a:solidFill>
                <a:latin typeface="Segoe UI"/>
              </a:rPr>
              <a:t>difficile à </a:t>
            </a:r>
            <a:r>
              <a:rPr sz="1000" b="0" i="0" dirty="0" err="1">
                <a:solidFill>
                  <a:srgbClr val="8E99B0"/>
                </a:solidFill>
                <a:latin typeface="Segoe UI"/>
              </a:rPr>
              <a:t>répliquer</a:t>
            </a:r>
            <a:r>
              <a:rPr sz="1000" b="0" i="0" dirty="0">
                <a:solidFill>
                  <a:srgbClr val="8E99B0"/>
                </a:solidFill>
                <a:latin typeface="Segoe UI"/>
              </a:rPr>
              <a:t> </a:t>
            </a:r>
            <a:r>
              <a:rPr sz="1000" b="0" i="0" dirty="0" err="1">
                <a:solidFill>
                  <a:srgbClr val="8E99B0"/>
                </a:solidFill>
                <a:latin typeface="Segoe UI"/>
              </a:rPr>
              <a:t>rapidement</a:t>
            </a:r>
            <a:r>
              <a:rPr sz="1000" b="0" i="0" dirty="0">
                <a:solidFill>
                  <a:srgbClr val="8E99B0"/>
                </a:solidFill>
                <a:latin typeface="Segoe UI"/>
              </a:rPr>
              <a:t>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35040" y="2880360"/>
            <a:ext cx="548640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035040" y="2880360"/>
            <a:ext cx="73152" cy="1188720"/>
          </a:xfrm>
          <a:prstGeom prst="rect">
            <a:avLst/>
          </a:prstGeom>
          <a:solidFill>
            <a:srgbClr val="E862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217920" y="29718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1C2340"/>
                </a:solidFill>
                <a:latin typeface="Segoe UI"/>
              </a:rPr>
              <a:t>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03720" y="2971800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2340"/>
                </a:solidFill>
                <a:latin typeface="Segoe UI"/>
              </a:rPr>
              <a:t>Scalabilité prouvée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03720" y="3337560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E99B0"/>
                </a:solidFill>
                <a:latin typeface="Segoe UI"/>
              </a:rPr>
              <a:t>Architecture API REST découplée. L'ajout de nouvelles régions ou pays se fait par configuration, sans refonte du code.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4206240"/>
            <a:ext cx="548640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274320" y="4206240"/>
            <a:ext cx="73152" cy="1188720"/>
          </a:xfrm>
          <a:prstGeom prst="rect">
            <a:avLst/>
          </a:prstGeom>
          <a:solidFill>
            <a:srgbClr val="E862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7200" y="42976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1C2340"/>
                </a:solidFill>
                <a:latin typeface="Segoe UI"/>
              </a:rPr>
              <a:t>🤝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3000" y="4297680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2340"/>
                </a:solidFill>
                <a:latin typeface="Segoe UI"/>
              </a:rPr>
              <a:t>Équipe focalisée &amp; motivée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3000" y="4663440"/>
            <a:ext cx="43891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8E99B0"/>
                </a:solidFill>
                <a:latin typeface="Segoe UI"/>
              </a:rPr>
              <a:t>YEFA TECHNOLOGIE, </a:t>
            </a:r>
            <a:r>
              <a:rPr lang="fr-CI" sz="1000" dirty="0">
                <a:solidFill>
                  <a:srgbClr val="8E99B0"/>
                </a:solidFill>
                <a:latin typeface="Segoe UI"/>
              </a:rPr>
              <a:t>Entreprise</a:t>
            </a:r>
            <a:r>
              <a:rPr sz="1000" b="0" i="0" dirty="0">
                <a:solidFill>
                  <a:srgbClr val="8E99B0"/>
                </a:solidFill>
                <a:latin typeface="Segoe UI"/>
              </a:rPr>
              <a:t> </a:t>
            </a:r>
            <a:r>
              <a:rPr sz="1000" b="0" i="0" dirty="0" err="1">
                <a:solidFill>
                  <a:srgbClr val="8E99B0"/>
                </a:solidFill>
                <a:latin typeface="Segoe UI"/>
              </a:rPr>
              <a:t>spécialisé</a:t>
            </a:r>
            <a:r>
              <a:rPr sz="1000" b="0" i="0" dirty="0">
                <a:solidFill>
                  <a:srgbClr val="8E99B0"/>
                </a:solidFill>
                <a:latin typeface="Segoe UI"/>
              </a:rPr>
              <a:t> </a:t>
            </a:r>
            <a:r>
              <a:rPr sz="1000" b="0" i="0" dirty="0" err="1">
                <a:solidFill>
                  <a:srgbClr val="8E99B0"/>
                </a:solidFill>
                <a:latin typeface="Segoe UI"/>
              </a:rPr>
              <a:t>en</a:t>
            </a:r>
            <a:r>
              <a:rPr sz="1000" b="0" i="0" dirty="0">
                <a:solidFill>
                  <a:srgbClr val="8E99B0"/>
                </a:solidFill>
                <a:latin typeface="Segoe UI"/>
              </a:rPr>
              <a:t> solutions </a:t>
            </a:r>
            <a:r>
              <a:rPr sz="1000" b="0" i="0" dirty="0" err="1">
                <a:solidFill>
                  <a:srgbClr val="8E99B0"/>
                </a:solidFill>
                <a:latin typeface="Segoe UI"/>
              </a:rPr>
              <a:t>digitales</a:t>
            </a:r>
            <a:r>
              <a:rPr sz="1000" b="0" i="0" dirty="0">
                <a:solidFill>
                  <a:srgbClr val="8E99B0"/>
                </a:solidFill>
                <a:latin typeface="Segoe UI"/>
              </a:rPr>
              <a:t> pour </a:t>
            </a:r>
            <a:r>
              <a:rPr sz="1000" b="0" i="0" dirty="0" err="1">
                <a:solidFill>
                  <a:srgbClr val="8E99B0"/>
                </a:solidFill>
                <a:latin typeface="Segoe UI"/>
              </a:rPr>
              <a:t>l'Afrique</a:t>
            </a:r>
            <a:r>
              <a:rPr sz="1000" b="0" i="0" dirty="0">
                <a:solidFill>
                  <a:srgbClr val="8E99B0"/>
                </a:solidFill>
                <a:latin typeface="Segoe UI"/>
              </a:rPr>
              <a:t> avec expertise mobile et backend.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5532120"/>
            <a:ext cx="11640312" cy="914400"/>
          </a:xfrm>
          <a:prstGeom prst="rect">
            <a:avLst/>
          </a:prstGeom>
          <a:solidFill>
            <a:srgbClr val="FF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274320" y="5532120"/>
            <a:ext cx="73152" cy="914400"/>
          </a:xfrm>
          <a:prstGeom prst="rect">
            <a:avLst/>
          </a:prstGeom>
          <a:solidFill>
            <a:srgbClr val="E862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57200" y="562356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1C2340"/>
                </a:solidFill>
                <a:latin typeface="Segoe UI"/>
              </a:rPr>
              <a:t>🤝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43000" y="5605272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2340"/>
                </a:solidFill>
                <a:latin typeface="Segoe UI"/>
              </a:rPr>
              <a:t>Équipe focalisée &amp; motivée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3000" y="5952744"/>
            <a:ext cx="105156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8E99B0"/>
                </a:solidFill>
                <a:latin typeface="Segoe UI"/>
              </a:rPr>
              <a:t>YEFA TECHNOLOGIE, </a:t>
            </a:r>
            <a:r>
              <a:rPr lang="fr-CI" sz="1000" dirty="0">
                <a:solidFill>
                  <a:srgbClr val="8E99B0"/>
                </a:solidFill>
                <a:latin typeface="Segoe UI"/>
              </a:rPr>
              <a:t>Entreprise</a:t>
            </a:r>
            <a:r>
              <a:rPr sz="1000" b="0" i="0" dirty="0">
                <a:solidFill>
                  <a:srgbClr val="8E99B0"/>
                </a:solidFill>
                <a:latin typeface="Segoe UI"/>
              </a:rPr>
              <a:t> </a:t>
            </a:r>
            <a:r>
              <a:rPr sz="1000" b="0" i="0" dirty="0" err="1">
                <a:solidFill>
                  <a:srgbClr val="8E99B0"/>
                </a:solidFill>
                <a:latin typeface="Segoe UI"/>
              </a:rPr>
              <a:t>spécialisé</a:t>
            </a:r>
            <a:r>
              <a:rPr lang="fr-CI" sz="1000" b="0" i="0" dirty="0">
                <a:solidFill>
                  <a:srgbClr val="8E99B0"/>
                </a:solidFill>
                <a:latin typeface="Segoe UI"/>
              </a:rPr>
              <a:t>e</a:t>
            </a:r>
            <a:r>
              <a:rPr sz="1000" b="0" i="0" dirty="0">
                <a:solidFill>
                  <a:srgbClr val="8E99B0"/>
                </a:solidFill>
                <a:latin typeface="Segoe UI"/>
              </a:rPr>
              <a:t> </a:t>
            </a:r>
            <a:r>
              <a:rPr sz="1000" b="0" i="0" dirty="0" err="1">
                <a:solidFill>
                  <a:srgbClr val="8E99B0"/>
                </a:solidFill>
                <a:latin typeface="Segoe UI"/>
              </a:rPr>
              <a:t>en</a:t>
            </a:r>
            <a:r>
              <a:rPr sz="1000" b="0" i="0" dirty="0">
                <a:solidFill>
                  <a:srgbClr val="8E99B0"/>
                </a:solidFill>
                <a:latin typeface="Segoe UI"/>
              </a:rPr>
              <a:t> solutions </a:t>
            </a:r>
            <a:r>
              <a:rPr sz="1000" b="0" i="0" dirty="0" err="1">
                <a:solidFill>
                  <a:srgbClr val="8E99B0"/>
                </a:solidFill>
                <a:latin typeface="Segoe UI"/>
              </a:rPr>
              <a:t>digitales</a:t>
            </a:r>
            <a:r>
              <a:rPr sz="1000" b="0" i="0" dirty="0">
                <a:solidFill>
                  <a:srgbClr val="8E99B0"/>
                </a:solidFill>
                <a:latin typeface="Segoe UI"/>
              </a:rPr>
              <a:t> pour </a:t>
            </a:r>
            <a:r>
              <a:rPr sz="1000" b="0" i="0" dirty="0" err="1">
                <a:solidFill>
                  <a:srgbClr val="8E99B0"/>
                </a:solidFill>
                <a:latin typeface="Segoe UI"/>
              </a:rPr>
              <a:t>l'Afrique</a:t>
            </a:r>
            <a:r>
              <a:rPr sz="1000" b="0" i="0" dirty="0">
                <a:solidFill>
                  <a:srgbClr val="8E99B0"/>
                </a:solidFill>
                <a:latin typeface="Segoe UI"/>
              </a:rPr>
              <a:t> avec expertise mobile et backend.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6025" y="45720"/>
            <a:ext cx="5943600" cy="6858000"/>
          </a:xfrm>
          <a:prstGeom prst="rect">
            <a:avLst/>
          </a:prstGeom>
          <a:solidFill>
            <a:srgbClr val="00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006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2743200" y="4114800"/>
            <a:ext cx="3200400" cy="3200400"/>
          </a:xfrm>
          <a:prstGeom prst="ellipse">
            <a:avLst/>
          </a:prstGeom>
          <a:solidFill>
            <a:srgbClr val="005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37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0" i="0">
                <a:solidFill>
                  <a:srgbClr val="FFFFFF"/>
                </a:solidFill>
                <a:latin typeface="Segoe UI"/>
              </a:rPr>
              <a:t>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37360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Segoe UI"/>
              </a:rPr>
              <a:t>Santé Aproximite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3172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CCEEEA"/>
                </a:solidFill>
                <a:latin typeface="Segoe UI"/>
              </a:rPr>
              <a:t>La santé de proximité dans votre poche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35224"/>
            <a:ext cx="275951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FFFFFF"/>
                </a:solidFill>
                <a:latin typeface="Segoe UI"/>
              </a:rPr>
              <a:t>Prêt à transformer </a:t>
            </a:r>
            <a:r>
              <a:rPr sz="2000" b="1" i="0" dirty="0" err="1">
                <a:solidFill>
                  <a:srgbClr val="FFFFFF"/>
                </a:solidFill>
                <a:latin typeface="Segoe UI"/>
              </a:rPr>
              <a:t>l'accès</a:t>
            </a:r>
            <a:r>
              <a:rPr sz="2000" b="1" i="0" dirty="0">
                <a:solidFill>
                  <a:srgbClr val="FFFFFF"/>
                </a:solidFill>
                <a:latin typeface="Segoe UI"/>
              </a:rPr>
              <a:t> à la </a:t>
            </a:r>
            <a:r>
              <a:rPr sz="2000" b="1" i="0" dirty="0" err="1">
                <a:solidFill>
                  <a:srgbClr val="FFFFFF"/>
                </a:solidFill>
                <a:latin typeface="Segoe UI"/>
              </a:rPr>
              <a:t>santé</a:t>
            </a:r>
            <a:r>
              <a:rPr sz="2000" b="1" i="0" dirty="0">
                <a:solidFill>
                  <a:srgbClr val="FFFFFF"/>
                </a:solidFill>
                <a:latin typeface="Segoe UI"/>
              </a:rPr>
              <a:t>
</a:t>
            </a:r>
            <a:r>
              <a:rPr sz="2000" b="1" i="0" dirty="0" err="1">
                <a:solidFill>
                  <a:srgbClr val="FFFFFF"/>
                </a:solidFill>
                <a:latin typeface="Segoe UI"/>
              </a:rPr>
              <a:t>en</a:t>
            </a:r>
            <a:r>
              <a:rPr sz="2000" b="1" i="0" dirty="0">
                <a:solidFill>
                  <a:srgbClr val="FFFFFF"/>
                </a:solidFill>
                <a:latin typeface="Segoe UI"/>
              </a:rPr>
              <a:t> Afrique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297680"/>
            <a:ext cx="2560320" cy="594360"/>
          </a:xfrm>
          <a:prstGeom prst="roundRect">
            <a:avLst>
              <a:gd name="adj" fmla="val 40000"/>
            </a:avLst>
          </a:prstGeom>
          <a:solidFill>
            <a:srgbClr val="E862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429768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Prendre contact 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37160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Segoe UI"/>
              </a:rPr>
              <a:t>Contactez-nous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1031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09688"/>
                </a:solidFill>
                <a:latin typeface="Segoe UI"/>
              </a:rPr>
              <a:t>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2130552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E99B0"/>
                </a:solidFill>
                <a:latin typeface="Segoe UI"/>
              </a:rPr>
              <a:t>Email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2450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Segoe UI"/>
              </a:rPr>
              <a:t>yefa.technologie@gmail.com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926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09688"/>
                </a:solidFill>
                <a:latin typeface="Segoe UI"/>
              </a:rPr>
              <a:t>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2953512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E99B0"/>
                </a:solidFill>
                <a:latin typeface="Segoe UI"/>
              </a:rPr>
              <a:t>Entreprise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327355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Segoe UI"/>
              </a:rPr>
              <a:t>YEFA TECHNOLOGIE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7490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09688"/>
                </a:solidFill>
                <a:latin typeface="Segoe UI"/>
              </a:rPr>
              <a:t>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3776472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E99B0"/>
                </a:solidFill>
                <a:latin typeface="Segoe UI"/>
              </a:rPr>
              <a:t>Application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4096512"/>
            <a:ext cx="4572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 err="1">
                <a:solidFill>
                  <a:srgbClr val="FFFFFF"/>
                </a:solidFill>
                <a:latin typeface="Segoe UI"/>
              </a:rPr>
              <a:t>Santé</a:t>
            </a:r>
            <a:r>
              <a:rPr sz="1200" b="0" i="0" dirty="0">
                <a:solidFill>
                  <a:srgbClr val="FFFFFF"/>
                </a:solidFill>
                <a:latin typeface="Segoe UI"/>
              </a:rPr>
              <a:t> </a:t>
            </a:r>
            <a:r>
              <a:rPr sz="1200" b="0" i="0" dirty="0" err="1">
                <a:solidFill>
                  <a:srgbClr val="FFFFFF"/>
                </a:solidFill>
                <a:latin typeface="Segoe UI"/>
              </a:rPr>
              <a:t>Aproximite</a:t>
            </a:r>
            <a:r>
              <a:rPr lang="fr-FR" sz="1200" b="0" i="0" dirty="0">
                <a:solidFill>
                  <a:srgbClr val="FFFFFF"/>
                </a:solidFill>
                <a:latin typeface="Segoe UI"/>
              </a:rPr>
              <a:t>-</a:t>
            </a:r>
            <a:r>
              <a:rPr sz="1200" b="0" i="0" dirty="0">
                <a:solidFill>
                  <a:srgbClr val="FFFFFF"/>
                </a:solidFill>
                <a:latin typeface="Segoe UI"/>
              </a:rPr>
              <a:t>Mobile &amp; Web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64008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E99B0"/>
                </a:solidFill>
                <a:latin typeface="Segoe UI"/>
              </a:rPr>
              <a:t>Powered by YEFA TECHNOLOGIE  ·  yefa.technologie@gmail.com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57618" y="1879092"/>
            <a:ext cx="1603716" cy="34747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4084466" y="1805940"/>
            <a:ext cx="1603716" cy="3474720"/>
          </a:xfrm>
          <a:prstGeom prst="roundRect">
            <a:avLst>
              <a:gd name="adj" fmla="val 8000"/>
            </a:avLst>
          </a:prstGeom>
          <a:solidFill>
            <a:srgbClr val="22222A"/>
          </a:solidFill>
          <a:ln w="2540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1" name="Picture 30" descr="08-chef-login-res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0689" y="2049170"/>
            <a:ext cx="1411270" cy="2988259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3874242" y="6601968"/>
            <a:ext cx="481115" cy="45720"/>
          </a:xfrm>
          <a:prstGeom prst="rect">
            <a:avLst/>
          </a:prstGeom>
          <a:solidFill>
            <a:srgbClr val="888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1185</Words>
  <Application>Microsoft Office PowerPoint</Application>
  <PresentationFormat>Personnalisé</PresentationFormat>
  <Paragraphs>238</Paragraphs>
  <Slides>13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7" baseType="lpstr">
      <vt:lpstr>Arial</vt:lpstr>
      <vt:lpstr>Calibri</vt:lpstr>
      <vt:lpstr>Segoe UI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subject/>
  <dc:creator/>
  <cp:keywords/>
  <dc:description>generated using python-pptx</dc:description>
  <cp:lastModifiedBy>karigua soro</cp:lastModifiedBy>
  <cp:revision>10</cp:revision>
  <dcterms:created xsi:type="dcterms:W3CDTF">2013-01-27T09:14:16Z</dcterms:created>
  <dcterms:modified xsi:type="dcterms:W3CDTF">2026-05-02T12:48:40Z</dcterms:modified>
  <cp:category/>
</cp:coreProperties>
</file>